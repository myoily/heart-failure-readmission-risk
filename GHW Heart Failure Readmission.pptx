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ogart Bold" charset="1" panose="00000800000000000000"/>
      <p:regular r:id="rId15"/>
    </p:embeddedFont>
    <p:embeddedFont>
      <p:font typeface="Quicksand Semi-Bold" charset="1" panose="00000000000000000000"/>
      <p:regular r:id="rId16"/>
    </p:embeddedFont>
    <p:embeddedFont>
      <p:font typeface="Quicksand Bold" charset="1" panose="00000000000000000000"/>
      <p:regular r:id="rId17"/>
    </p:embeddedFont>
    <p:embeddedFont>
      <p:font typeface="Quicksand" charset="1" panose="00000000000000000000"/>
      <p:regular r:id="rId18"/>
    </p:embeddedFont>
    <p:embeddedFont>
      <p:font typeface="Canva San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901877" y="1434471"/>
            <a:ext cx="12331850" cy="7558102"/>
            <a:chOff x="0" y="0"/>
            <a:chExt cx="5575106" cy="34169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5576376" cy="3415672"/>
            </a:xfrm>
            <a:custGeom>
              <a:avLst/>
              <a:gdLst/>
              <a:ahLst/>
              <a:cxnLst/>
              <a:rect r="r" b="b" t="t" l="l"/>
              <a:pathLst>
                <a:path h="3415672" w="5576376">
                  <a:moveTo>
                    <a:pt x="5564946" y="27940"/>
                  </a:moveTo>
                  <a:cubicBezTo>
                    <a:pt x="5556056" y="24130"/>
                    <a:pt x="5547166" y="21590"/>
                    <a:pt x="5538276" y="21590"/>
                  </a:cubicBezTo>
                  <a:cubicBezTo>
                    <a:pt x="5511606" y="20320"/>
                    <a:pt x="5429392" y="20320"/>
                    <a:pt x="5337320" y="17780"/>
                  </a:cubicBezTo>
                  <a:cubicBezTo>
                    <a:pt x="5126868" y="12700"/>
                    <a:pt x="4920802" y="6350"/>
                    <a:pt x="4710350" y="3810"/>
                  </a:cubicBezTo>
                  <a:cubicBezTo>
                    <a:pt x="4539358" y="1270"/>
                    <a:pt x="4372751" y="3810"/>
                    <a:pt x="4201759" y="2540"/>
                  </a:cubicBezTo>
                  <a:cubicBezTo>
                    <a:pt x="4127224" y="2540"/>
                    <a:pt x="4052689" y="0"/>
                    <a:pt x="3978154" y="2540"/>
                  </a:cubicBezTo>
                  <a:cubicBezTo>
                    <a:pt x="3798394" y="10160"/>
                    <a:pt x="3618633" y="11430"/>
                    <a:pt x="3434489" y="8890"/>
                  </a:cubicBezTo>
                  <a:cubicBezTo>
                    <a:pt x="3342416" y="7620"/>
                    <a:pt x="3250343" y="7620"/>
                    <a:pt x="3158271" y="7620"/>
                  </a:cubicBezTo>
                  <a:cubicBezTo>
                    <a:pt x="2991664" y="7620"/>
                    <a:pt x="2825056" y="7620"/>
                    <a:pt x="2658449" y="6350"/>
                  </a:cubicBezTo>
                  <a:cubicBezTo>
                    <a:pt x="2483073" y="5080"/>
                    <a:pt x="755618" y="2540"/>
                    <a:pt x="584626" y="1270"/>
                  </a:cubicBezTo>
                  <a:cubicBezTo>
                    <a:pt x="444325" y="0"/>
                    <a:pt x="308409" y="1270"/>
                    <a:pt x="168108" y="1270"/>
                  </a:cubicBezTo>
                  <a:cubicBezTo>
                    <a:pt x="71651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4575"/>
                    <a:pt x="16510" y="325250"/>
                    <a:pt x="17780" y="473281"/>
                  </a:cubicBezTo>
                  <a:cubicBezTo>
                    <a:pt x="19050" y="623956"/>
                    <a:pt x="17780" y="774630"/>
                    <a:pt x="16510" y="927948"/>
                  </a:cubicBezTo>
                  <a:cubicBezTo>
                    <a:pt x="15240" y="1083910"/>
                    <a:pt x="2540" y="2720184"/>
                    <a:pt x="2540" y="2876146"/>
                  </a:cubicBezTo>
                  <a:cubicBezTo>
                    <a:pt x="2540" y="3029464"/>
                    <a:pt x="1270" y="3182782"/>
                    <a:pt x="0" y="3336100"/>
                  </a:cubicBezTo>
                  <a:cubicBezTo>
                    <a:pt x="0" y="3361062"/>
                    <a:pt x="3810" y="3371222"/>
                    <a:pt x="15240" y="3376302"/>
                  </a:cubicBezTo>
                  <a:cubicBezTo>
                    <a:pt x="22860" y="3380112"/>
                    <a:pt x="31750" y="3382652"/>
                    <a:pt x="40640" y="3383922"/>
                  </a:cubicBezTo>
                  <a:cubicBezTo>
                    <a:pt x="163723" y="3389002"/>
                    <a:pt x="330331" y="3392812"/>
                    <a:pt x="496938" y="3397892"/>
                  </a:cubicBezTo>
                  <a:cubicBezTo>
                    <a:pt x="589010" y="3400432"/>
                    <a:pt x="681083" y="3405512"/>
                    <a:pt x="773155" y="3406782"/>
                  </a:cubicBezTo>
                  <a:cubicBezTo>
                    <a:pt x="926609" y="3409322"/>
                    <a:pt x="2636527" y="3410592"/>
                    <a:pt x="2789981" y="3411862"/>
                  </a:cubicBezTo>
                  <a:cubicBezTo>
                    <a:pt x="2811903" y="3411862"/>
                    <a:pt x="2833825" y="3411862"/>
                    <a:pt x="2855747" y="3411862"/>
                  </a:cubicBezTo>
                  <a:cubicBezTo>
                    <a:pt x="2960973" y="3411862"/>
                    <a:pt x="3070583" y="3410592"/>
                    <a:pt x="3175808" y="3410592"/>
                  </a:cubicBezTo>
                  <a:cubicBezTo>
                    <a:pt x="3298572" y="3410592"/>
                    <a:pt x="3416951" y="3411862"/>
                    <a:pt x="3539714" y="3411862"/>
                  </a:cubicBezTo>
                  <a:cubicBezTo>
                    <a:pt x="3719475" y="3411862"/>
                    <a:pt x="3903620" y="3411862"/>
                    <a:pt x="4083380" y="3411862"/>
                  </a:cubicBezTo>
                  <a:cubicBezTo>
                    <a:pt x="4249987" y="3411862"/>
                    <a:pt x="4416595" y="3413132"/>
                    <a:pt x="4583202" y="3414402"/>
                  </a:cubicBezTo>
                  <a:cubicBezTo>
                    <a:pt x="4657737" y="3414402"/>
                    <a:pt x="4736657" y="3415672"/>
                    <a:pt x="4811191" y="3415672"/>
                  </a:cubicBezTo>
                  <a:cubicBezTo>
                    <a:pt x="5052333" y="3414402"/>
                    <a:pt x="5289091" y="3408052"/>
                    <a:pt x="5515416" y="3408052"/>
                  </a:cubicBezTo>
                  <a:cubicBezTo>
                    <a:pt x="5519226" y="3408052"/>
                    <a:pt x="5524306" y="3405512"/>
                    <a:pt x="5528116" y="3402972"/>
                  </a:cubicBezTo>
                  <a:cubicBezTo>
                    <a:pt x="5533196" y="3399162"/>
                    <a:pt x="5535736" y="3392812"/>
                    <a:pt x="5538276" y="3390272"/>
                  </a:cubicBezTo>
                  <a:cubicBezTo>
                    <a:pt x="5539546" y="3317596"/>
                    <a:pt x="5540816" y="3206572"/>
                    <a:pt x="5542086" y="3095549"/>
                  </a:cubicBezTo>
                  <a:cubicBezTo>
                    <a:pt x="5543356" y="2923727"/>
                    <a:pt x="5553516" y="1274236"/>
                    <a:pt x="5554786" y="1102414"/>
                  </a:cubicBezTo>
                  <a:cubicBezTo>
                    <a:pt x="5554786" y="999320"/>
                    <a:pt x="5556056" y="896227"/>
                    <a:pt x="5557326" y="793134"/>
                  </a:cubicBezTo>
                  <a:cubicBezTo>
                    <a:pt x="5558596" y="682111"/>
                    <a:pt x="5559866" y="571087"/>
                    <a:pt x="5562406" y="460064"/>
                  </a:cubicBezTo>
                  <a:cubicBezTo>
                    <a:pt x="5563676" y="393978"/>
                    <a:pt x="5563676" y="325250"/>
                    <a:pt x="5568756" y="259164"/>
                  </a:cubicBezTo>
                  <a:cubicBezTo>
                    <a:pt x="5573836" y="179862"/>
                    <a:pt x="5576376" y="103203"/>
                    <a:pt x="5575106" y="44450"/>
                  </a:cubicBezTo>
                  <a:cubicBezTo>
                    <a:pt x="5575106" y="38100"/>
                    <a:pt x="5571296" y="30480"/>
                    <a:pt x="5564946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496888" y="3406761"/>
            <a:ext cx="11141828" cy="339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9"/>
              </a:lnSpc>
            </a:pPr>
            <a:r>
              <a:rPr lang="en-US" b="true" sz="8799" spc="-87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GHW Heart Failure Readmission Prediction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775267" y="7052665"/>
            <a:ext cx="6421263" cy="1414598"/>
            <a:chOff x="0" y="0"/>
            <a:chExt cx="2902989" cy="6395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-1270"/>
              <a:ext cx="2904259" cy="638255"/>
            </a:xfrm>
            <a:custGeom>
              <a:avLst/>
              <a:gdLst/>
              <a:ahLst/>
              <a:cxnLst/>
              <a:rect r="r" b="b" t="t" l="l"/>
              <a:pathLst>
                <a:path h="638255" w="2904259">
                  <a:moveTo>
                    <a:pt x="2892829" y="27940"/>
                  </a:moveTo>
                  <a:cubicBezTo>
                    <a:pt x="2883939" y="24130"/>
                    <a:pt x="2875049" y="21590"/>
                    <a:pt x="2866159" y="21590"/>
                  </a:cubicBezTo>
                  <a:cubicBezTo>
                    <a:pt x="2839489" y="20320"/>
                    <a:pt x="2796483" y="20320"/>
                    <a:pt x="2749545" y="17780"/>
                  </a:cubicBezTo>
                  <a:cubicBezTo>
                    <a:pt x="2642259" y="12700"/>
                    <a:pt x="2537207" y="6350"/>
                    <a:pt x="2429921" y="3810"/>
                  </a:cubicBezTo>
                  <a:cubicBezTo>
                    <a:pt x="2342751" y="1270"/>
                    <a:pt x="2257816" y="3810"/>
                    <a:pt x="2170645" y="2540"/>
                  </a:cubicBezTo>
                  <a:cubicBezTo>
                    <a:pt x="2132648" y="2540"/>
                    <a:pt x="2094651" y="0"/>
                    <a:pt x="2056654" y="2540"/>
                  </a:cubicBezTo>
                  <a:cubicBezTo>
                    <a:pt x="1965013" y="10160"/>
                    <a:pt x="1873373" y="11430"/>
                    <a:pt x="1779497" y="8890"/>
                  </a:cubicBezTo>
                  <a:cubicBezTo>
                    <a:pt x="1732559" y="7620"/>
                    <a:pt x="1685621" y="7620"/>
                    <a:pt x="1638684" y="7620"/>
                  </a:cubicBezTo>
                  <a:cubicBezTo>
                    <a:pt x="1553748" y="7620"/>
                    <a:pt x="1468813" y="7620"/>
                    <a:pt x="1383878" y="6350"/>
                  </a:cubicBezTo>
                  <a:cubicBezTo>
                    <a:pt x="1294473" y="5080"/>
                    <a:pt x="413830" y="2540"/>
                    <a:pt x="326660" y="1270"/>
                  </a:cubicBezTo>
                  <a:cubicBezTo>
                    <a:pt x="255136" y="0"/>
                    <a:pt x="185847" y="1270"/>
                    <a:pt x="114322" y="1270"/>
                  </a:cubicBezTo>
                  <a:cubicBezTo>
                    <a:pt x="65149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82730"/>
                    <a:pt x="16510" y="106069"/>
                    <a:pt x="17780" y="128998"/>
                  </a:cubicBezTo>
                  <a:cubicBezTo>
                    <a:pt x="19050" y="152337"/>
                    <a:pt x="17780" y="175675"/>
                    <a:pt x="16510" y="199423"/>
                  </a:cubicBezTo>
                  <a:cubicBezTo>
                    <a:pt x="15240" y="223581"/>
                    <a:pt x="2540" y="477030"/>
                    <a:pt x="2540" y="501187"/>
                  </a:cubicBezTo>
                  <a:cubicBezTo>
                    <a:pt x="2540" y="524935"/>
                    <a:pt x="1270" y="548683"/>
                    <a:pt x="0" y="572432"/>
                  </a:cubicBezTo>
                  <a:cubicBezTo>
                    <a:pt x="0" y="583645"/>
                    <a:pt x="3810" y="593805"/>
                    <a:pt x="15240" y="598885"/>
                  </a:cubicBezTo>
                  <a:cubicBezTo>
                    <a:pt x="22860" y="602695"/>
                    <a:pt x="31750" y="605235"/>
                    <a:pt x="40640" y="606505"/>
                  </a:cubicBezTo>
                  <a:cubicBezTo>
                    <a:pt x="112087" y="611585"/>
                    <a:pt x="197022" y="615395"/>
                    <a:pt x="281957" y="620475"/>
                  </a:cubicBezTo>
                  <a:cubicBezTo>
                    <a:pt x="328895" y="623015"/>
                    <a:pt x="375833" y="628095"/>
                    <a:pt x="422771" y="629365"/>
                  </a:cubicBezTo>
                  <a:cubicBezTo>
                    <a:pt x="501000" y="631905"/>
                    <a:pt x="1372703" y="633175"/>
                    <a:pt x="1450932" y="634445"/>
                  </a:cubicBezTo>
                  <a:cubicBezTo>
                    <a:pt x="1462108" y="634445"/>
                    <a:pt x="1473284" y="634445"/>
                    <a:pt x="1484459" y="634445"/>
                  </a:cubicBezTo>
                  <a:cubicBezTo>
                    <a:pt x="1538103" y="634445"/>
                    <a:pt x="1593981" y="633175"/>
                    <a:pt x="1647624" y="633175"/>
                  </a:cubicBezTo>
                  <a:cubicBezTo>
                    <a:pt x="1710208" y="633175"/>
                    <a:pt x="1770556" y="634445"/>
                    <a:pt x="1833140" y="634445"/>
                  </a:cubicBezTo>
                  <a:cubicBezTo>
                    <a:pt x="1924781" y="634445"/>
                    <a:pt x="2018656" y="634445"/>
                    <a:pt x="2110297" y="634445"/>
                  </a:cubicBezTo>
                  <a:cubicBezTo>
                    <a:pt x="2195232" y="634445"/>
                    <a:pt x="2280167" y="635715"/>
                    <a:pt x="2365102" y="636985"/>
                  </a:cubicBezTo>
                  <a:cubicBezTo>
                    <a:pt x="2403099" y="636985"/>
                    <a:pt x="2443332" y="638255"/>
                    <a:pt x="2481329" y="638255"/>
                  </a:cubicBezTo>
                  <a:cubicBezTo>
                    <a:pt x="2604261" y="636985"/>
                    <a:pt x="2724958" y="630635"/>
                    <a:pt x="2843299" y="630635"/>
                  </a:cubicBezTo>
                  <a:cubicBezTo>
                    <a:pt x="2847109" y="630635"/>
                    <a:pt x="2852189" y="628095"/>
                    <a:pt x="2855999" y="625555"/>
                  </a:cubicBezTo>
                  <a:cubicBezTo>
                    <a:pt x="2861079" y="621745"/>
                    <a:pt x="2863619" y="615395"/>
                    <a:pt x="2866159" y="612855"/>
                  </a:cubicBezTo>
                  <a:cubicBezTo>
                    <a:pt x="2867429" y="569565"/>
                    <a:pt x="2868699" y="552368"/>
                    <a:pt x="2869969" y="535172"/>
                  </a:cubicBezTo>
                  <a:cubicBezTo>
                    <a:pt x="2871239" y="508557"/>
                    <a:pt x="2881399" y="253061"/>
                    <a:pt x="2882669" y="226447"/>
                  </a:cubicBezTo>
                  <a:cubicBezTo>
                    <a:pt x="2882669" y="210478"/>
                    <a:pt x="2883939" y="194510"/>
                    <a:pt x="2885209" y="178541"/>
                  </a:cubicBezTo>
                  <a:cubicBezTo>
                    <a:pt x="2886479" y="161345"/>
                    <a:pt x="2887749" y="144148"/>
                    <a:pt x="2890289" y="126951"/>
                  </a:cubicBezTo>
                  <a:cubicBezTo>
                    <a:pt x="2891559" y="116715"/>
                    <a:pt x="2891559" y="106069"/>
                    <a:pt x="2896639" y="95833"/>
                  </a:cubicBezTo>
                  <a:cubicBezTo>
                    <a:pt x="2901719" y="83549"/>
                    <a:pt x="2904259" y="71675"/>
                    <a:pt x="2902989" y="44450"/>
                  </a:cubicBezTo>
                  <a:cubicBezTo>
                    <a:pt x="2902989" y="38100"/>
                    <a:pt x="2899179" y="30480"/>
                    <a:pt x="2892829" y="27940"/>
                  </a:cubicBezTo>
                  <a:close/>
                </a:path>
              </a:pathLst>
            </a:custGeom>
            <a:solidFill>
              <a:srgbClr val="3E4A9D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-813610">
            <a:off x="1402688" y="5535703"/>
            <a:ext cx="3615728" cy="4323154"/>
          </a:xfrm>
          <a:custGeom>
            <a:avLst/>
            <a:gdLst/>
            <a:ahLst/>
            <a:cxnLst/>
            <a:rect r="r" b="b" t="t" l="l"/>
            <a:pathLst>
              <a:path h="4323154" w="3615728">
                <a:moveTo>
                  <a:pt x="0" y="0"/>
                </a:moveTo>
                <a:lnTo>
                  <a:pt x="3615729" y="0"/>
                </a:lnTo>
                <a:lnTo>
                  <a:pt x="3615729" y="4323153"/>
                </a:lnTo>
                <a:lnTo>
                  <a:pt x="0" y="4323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26033">
            <a:off x="11872025" y="841283"/>
            <a:ext cx="4176815" cy="3022495"/>
          </a:xfrm>
          <a:custGeom>
            <a:avLst/>
            <a:gdLst/>
            <a:ahLst/>
            <a:cxnLst/>
            <a:rect r="r" b="b" t="t" l="l"/>
            <a:pathLst>
              <a:path h="3022495" w="4176815">
                <a:moveTo>
                  <a:pt x="0" y="0"/>
                </a:moveTo>
                <a:lnTo>
                  <a:pt x="4176815" y="0"/>
                </a:lnTo>
                <a:lnTo>
                  <a:pt x="4176815" y="3022496"/>
                </a:lnTo>
                <a:lnTo>
                  <a:pt x="0" y="30224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4199284">
            <a:off x="2069486" y="902299"/>
            <a:ext cx="2690997" cy="2896376"/>
          </a:xfrm>
          <a:custGeom>
            <a:avLst/>
            <a:gdLst/>
            <a:ahLst/>
            <a:cxnLst/>
            <a:rect r="r" b="b" t="t" l="l"/>
            <a:pathLst>
              <a:path h="2896376" w="2690997">
                <a:moveTo>
                  <a:pt x="0" y="0"/>
                </a:moveTo>
                <a:lnTo>
                  <a:pt x="2690997" y="0"/>
                </a:lnTo>
                <a:lnTo>
                  <a:pt x="2690997" y="2896376"/>
                </a:lnTo>
                <a:lnTo>
                  <a:pt x="0" y="28963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5312293">
            <a:off x="13306441" y="4649300"/>
            <a:ext cx="2768371" cy="2541868"/>
          </a:xfrm>
          <a:custGeom>
            <a:avLst/>
            <a:gdLst/>
            <a:ahLst/>
            <a:cxnLst/>
            <a:rect r="r" b="b" t="t" l="l"/>
            <a:pathLst>
              <a:path h="2541868" w="2768371">
                <a:moveTo>
                  <a:pt x="2768371" y="0"/>
                </a:moveTo>
                <a:lnTo>
                  <a:pt x="0" y="0"/>
                </a:lnTo>
                <a:lnTo>
                  <a:pt x="0" y="2541868"/>
                </a:lnTo>
                <a:lnTo>
                  <a:pt x="2768371" y="2541868"/>
                </a:lnTo>
                <a:lnTo>
                  <a:pt x="276837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518826" y="7311637"/>
            <a:ext cx="4934145" cy="121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8"/>
              </a:lnSpc>
            </a:pPr>
            <a:r>
              <a:rPr lang="en-US" sz="2699" b="true">
                <a:solidFill>
                  <a:srgbClr val="FFFFFF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Data Science Model &amp; Insights for Healthcare Intervention</a:t>
            </a:r>
          </a:p>
          <a:p>
            <a:pPr algn="ctr">
              <a:lnSpc>
                <a:spcPts val="3158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4863923">
            <a:off x="2155481" y="3539906"/>
            <a:ext cx="1274852" cy="1469930"/>
          </a:xfrm>
          <a:custGeom>
            <a:avLst/>
            <a:gdLst/>
            <a:ahLst/>
            <a:cxnLst/>
            <a:rect r="r" b="b" t="t" l="l"/>
            <a:pathLst>
              <a:path h="1469930" w="1274852">
                <a:moveTo>
                  <a:pt x="0" y="0"/>
                </a:moveTo>
                <a:lnTo>
                  <a:pt x="1274852" y="0"/>
                </a:lnTo>
                <a:lnTo>
                  <a:pt x="1274852" y="1469930"/>
                </a:lnTo>
                <a:lnTo>
                  <a:pt x="0" y="1469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12551" t="-12414" r="0" b="-83742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3531975">
            <a:off x="13289606" y="8153261"/>
            <a:ext cx="1329591" cy="1247748"/>
          </a:xfrm>
          <a:custGeom>
            <a:avLst/>
            <a:gdLst/>
            <a:ahLst/>
            <a:cxnLst/>
            <a:rect r="r" b="b" t="t" l="l"/>
            <a:pathLst>
              <a:path h="1247748" w="1329591">
                <a:moveTo>
                  <a:pt x="0" y="0"/>
                </a:moveTo>
                <a:lnTo>
                  <a:pt x="1329590" y="0"/>
                </a:lnTo>
                <a:lnTo>
                  <a:pt x="1329590" y="1247747"/>
                </a:lnTo>
                <a:lnTo>
                  <a:pt x="0" y="12477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8858" t="-92879" r="-122806" b="-10913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44640">
            <a:off x="14853767" y="7359502"/>
            <a:ext cx="1121060" cy="1052053"/>
          </a:xfrm>
          <a:custGeom>
            <a:avLst/>
            <a:gdLst/>
            <a:ahLst/>
            <a:cxnLst/>
            <a:rect r="r" b="b" t="t" l="l"/>
            <a:pathLst>
              <a:path h="1052053" w="1121060">
                <a:moveTo>
                  <a:pt x="0" y="0"/>
                </a:moveTo>
                <a:lnTo>
                  <a:pt x="1121061" y="0"/>
                </a:lnTo>
                <a:lnTo>
                  <a:pt x="1121061" y="1052053"/>
                </a:lnTo>
                <a:lnTo>
                  <a:pt x="0" y="1052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8858" t="-92879" r="-122806" b="-109134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A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7506" y="-155760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13816841"/>
                  </a:moveTo>
                  <a:lnTo>
                    <a:pt x="13842008" y="13816841"/>
                  </a:lnTo>
                  <a:lnTo>
                    <a:pt x="13842008" y="0"/>
                  </a:lnTo>
                  <a:lnTo>
                    <a:pt x="0" y="0"/>
                  </a:lnTo>
                  <a:lnTo>
                    <a:pt x="0" y="13816841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13816841"/>
                  </a:moveTo>
                  <a:lnTo>
                    <a:pt x="13842009" y="13816841"/>
                  </a:lnTo>
                  <a:lnTo>
                    <a:pt x="13842009" y="0"/>
                  </a:lnTo>
                  <a:lnTo>
                    <a:pt x="0" y="0"/>
                  </a:lnTo>
                  <a:lnTo>
                    <a:pt x="0" y="13816841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716160"/>
            <a:ext cx="16230600" cy="6542140"/>
            <a:chOff x="0" y="0"/>
            <a:chExt cx="6851469" cy="27616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6852739" cy="2760382"/>
            </a:xfrm>
            <a:custGeom>
              <a:avLst/>
              <a:gdLst/>
              <a:ahLst/>
              <a:cxnLst/>
              <a:rect r="r" b="b" t="t" l="l"/>
              <a:pathLst>
                <a:path h="2760382" w="6852739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52906"/>
                    <a:pt x="16510" y="273537"/>
                    <a:pt x="17780" y="392052"/>
                  </a:cubicBezTo>
                  <a:cubicBezTo>
                    <a:pt x="19050" y="512684"/>
                    <a:pt x="17780" y="633316"/>
                    <a:pt x="16510" y="756064"/>
                  </a:cubicBezTo>
                  <a:cubicBezTo>
                    <a:pt x="15240" y="880928"/>
                    <a:pt x="2540" y="2190945"/>
                    <a:pt x="2540" y="2315810"/>
                  </a:cubicBezTo>
                  <a:cubicBezTo>
                    <a:pt x="2540" y="2438557"/>
                    <a:pt x="1270" y="2561305"/>
                    <a:pt x="0" y="2684053"/>
                  </a:cubicBezTo>
                  <a:cubicBezTo>
                    <a:pt x="0" y="2705772"/>
                    <a:pt x="3810" y="2715932"/>
                    <a:pt x="15240" y="2721012"/>
                  </a:cubicBezTo>
                  <a:cubicBezTo>
                    <a:pt x="22860" y="2724822"/>
                    <a:pt x="31750" y="2727362"/>
                    <a:pt x="40640" y="2728632"/>
                  </a:cubicBezTo>
                  <a:cubicBezTo>
                    <a:pt x="188388" y="2733712"/>
                    <a:pt x="394007" y="2737522"/>
                    <a:pt x="599625" y="2742602"/>
                  </a:cubicBezTo>
                  <a:cubicBezTo>
                    <a:pt x="713257" y="2745142"/>
                    <a:pt x="826888" y="2750222"/>
                    <a:pt x="940520" y="2751492"/>
                  </a:cubicBezTo>
                  <a:cubicBezTo>
                    <a:pt x="1129906" y="2754032"/>
                    <a:pt x="3240205" y="2755302"/>
                    <a:pt x="3429591" y="2756572"/>
                  </a:cubicBezTo>
                  <a:cubicBezTo>
                    <a:pt x="3456646" y="2756572"/>
                    <a:pt x="3483701" y="2756572"/>
                    <a:pt x="3510756" y="2756572"/>
                  </a:cubicBezTo>
                  <a:cubicBezTo>
                    <a:pt x="3640621" y="2756572"/>
                    <a:pt x="3775897" y="2755302"/>
                    <a:pt x="3905761" y="2755302"/>
                  </a:cubicBezTo>
                  <a:cubicBezTo>
                    <a:pt x="4057270" y="2755302"/>
                    <a:pt x="4203367" y="2756572"/>
                    <a:pt x="4354876" y="2756572"/>
                  </a:cubicBezTo>
                  <a:cubicBezTo>
                    <a:pt x="4576728" y="2756572"/>
                    <a:pt x="4803991" y="2756572"/>
                    <a:pt x="5025843" y="2756572"/>
                  </a:cubicBezTo>
                  <a:cubicBezTo>
                    <a:pt x="5231462" y="2756572"/>
                    <a:pt x="5437081" y="2757842"/>
                    <a:pt x="5642700" y="2759112"/>
                  </a:cubicBezTo>
                  <a:cubicBezTo>
                    <a:pt x="5734687" y="2759112"/>
                    <a:pt x="5832086" y="2760382"/>
                    <a:pt x="5924073" y="2760382"/>
                  </a:cubicBezTo>
                  <a:cubicBezTo>
                    <a:pt x="6221680" y="2759112"/>
                    <a:pt x="6513874" y="2752762"/>
                    <a:pt x="6791779" y="2752762"/>
                  </a:cubicBezTo>
                  <a:cubicBezTo>
                    <a:pt x="6795589" y="2752762"/>
                    <a:pt x="6800669" y="2750222"/>
                    <a:pt x="6804479" y="2747682"/>
                  </a:cubicBezTo>
                  <a:cubicBezTo>
                    <a:pt x="6809559" y="2743872"/>
                    <a:pt x="6812099" y="2737522"/>
                    <a:pt x="6814639" y="2734982"/>
                  </a:cubicBezTo>
                  <a:cubicBezTo>
                    <a:pt x="6815909" y="2669239"/>
                    <a:pt x="6817179" y="2580352"/>
                    <a:pt x="6818449" y="2491466"/>
                  </a:cubicBezTo>
                  <a:cubicBezTo>
                    <a:pt x="6819719" y="2353904"/>
                    <a:pt x="6829879" y="1033305"/>
                    <a:pt x="6831149" y="895742"/>
                  </a:cubicBezTo>
                  <a:cubicBezTo>
                    <a:pt x="6831149" y="813205"/>
                    <a:pt x="6832419" y="730667"/>
                    <a:pt x="6833689" y="648130"/>
                  </a:cubicBezTo>
                  <a:cubicBezTo>
                    <a:pt x="6834959" y="559244"/>
                    <a:pt x="6836229" y="470357"/>
                    <a:pt x="6838769" y="381471"/>
                  </a:cubicBezTo>
                  <a:cubicBezTo>
                    <a:pt x="6840039" y="328562"/>
                    <a:pt x="6840039" y="273537"/>
                    <a:pt x="6845119" y="220629"/>
                  </a:cubicBezTo>
                  <a:cubicBezTo>
                    <a:pt x="6850199" y="157138"/>
                    <a:pt x="6852739" y="95764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224256" y="3873865"/>
            <a:ext cx="6724795" cy="4702782"/>
            <a:chOff x="0" y="0"/>
            <a:chExt cx="3821347" cy="26723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1270"/>
              <a:ext cx="3822617" cy="2671074"/>
            </a:xfrm>
            <a:custGeom>
              <a:avLst/>
              <a:gdLst/>
              <a:ahLst/>
              <a:cxnLst/>
              <a:rect r="r" b="b" t="t" l="l"/>
              <a:pathLst>
                <a:path h="2671074" w="3822617">
                  <a:moveTo>
                    <a:pt x="3811187" y="27940"/>
                  </a:moveTo>
                  <a:cubicBezTo>
                    <a:pt x="3802297" y="24130"/>
                    <a:pt x="3793407" y="21590"/>
                    <a:pt x="3784517" y="21590"/>
                  </a:cubicBezTo>
                  <a:cubicBezTo>
                    <a:pt x="3757847" y="20320"/>
                    <a:pt x="3701366" y="20320"/>
                    <a:pt x="3638916" y="17780"/>
                  </a:cubicBezTo>
                  <a:cubicBezTo>
                    <a:pt x="3496174" y="12700"/>
                    <a:pt x="3356405" y="6350"/>
                    <a:pt x="3213663" y="3810"/>
                  </a:cubicBezTo>
                  <a:cubicBezTo>
                    <a:pt x="3097685" y="1270"/>
                    <a:pt x="2984681" y="3810"/>
                    <a:pt x="2868702" y="2540"/>
                  </a:cubicBezTo>
                  <a:cubicBezTo>
                    <a:pt x="2818148" y="2540"/>
                    <a:pt x="2767593" y="0"/>
                    <a:pt x="2717038" y="2540"/>
                  </a:cubicBezTo>
                  <a:cubicBezTo>
                    <a:pt x="2595113" y="10160"/>
                    <a:pt x="2473187" y="11430"/>
                    <a:pt x="2348287" y="8890"/>
                  </a:cubicBezTo>
                  <a:cubicBezTo>
                    <a:pt x="2285838" y="7620"/>
                    <a:pt x="2223388" y="7620"/>
                    <a:pt x="2160938" y="7620"/>
                  </a:cubicBezTo>
                  <a:cubicBezTo>
                    <a:pt x="2047934" y="7620"/>
                    <a:pt x="1934930" y="7620"/>
                    <a:pt x="1821925" y="6350"/>
                  </a:cubicBezTo>
                  <a:cubicBezTo>
                    <a:pt x="1702973" y="5080"/>
                    <a:pt x="531296" y="2540"/>
                    <a:pt x="415318" y="1270"/>
                  </a:cubicBezTo>
                  <a:cubicBezTo>
                    <a:pt x="320157" y="0"/>
                    <a:pt x="227969" y="1270"/>
                    <a:pt x="132807" y="1270"/>
                  </a:cubicBezTo>
                  <a:cubicBezTo>
                    <a:pt x="67384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49952"/>
                    <a:pt x="16510" y="266489"/>
                    <a:pt x="17780" y="380982"/>
                  </a:cubicBezTo>
                  <a:cubicBezTo>
                    <a:pt x="19050" y="497519"/>
                    <a:pt x="17780" y="614056"/>
                    <a:pt x="16510" y="732638"/>
                  </a:cubicBezTo>
                  <a:cubicBezTo>
                    <a:pt x="15240" y="853264"/>
                    <a:pt x="2540" y="2118816"/>
                    <a:pt x="2540" y="2239442"/>
                  </a:cubicBezTo>
                  <a:cubicBezTo>
                    <a:pt x="2540" y="2358024"/>
                    <a:pt x="1270" y="2476605"/>
                    <a:pt x="0" y="2595187"/>
                  </a:cubicBezTo>
                  <a:cubicBezTo>
                    <a:pt x="0" y="2616463"/>
                    <a:pt x="3810" y="2626624"/>
                    <a:pt x="15240" y="2631704"/>
                  </a:cubicBezTo>
                  <a:cubicBezTo>
                    <a:pt x="22860" y="2635513"/>
                    <a:pt x="31750" y="2638054"/>
                    <a:pt x="40640" y="2639324"/>
                  </a:cubicBezTo>
                  <a:cubicBezTo>
                    <a:pt x="129834" y="2644404"/>
                    <a:pt x="242838" y="2648213"/>
                    <a:pt x="355842" y="2653294"/>
                  </a:cubicBezTo>
                  <a:cubicBezTo>
                    <a:pt x="418292" y="2655834"/>
                    <a:pt x="480742" y="2660913"/>
                    <a:pt x="543192" y="2662184"/>
                  </a:cubicBezTo>
                  <a:cubicBezTo>
                    <a:pt x="647274" y="2664724"/>
                    <a:pt x="1807056" y="2665994"/>
                    <a:pt x="1911139" y="2667263"/>
                  </a:cubicBezTo>
                  <a:cubicBezTo>
                    <a:pt x="1926008" y="2667263"/>
                    <a:pt x="1940877" y="2667263"/>
                    <a:pt x="1955746" y="2667263"/>
                  </a:cubicBezTo>
                  <a:cubicBezTo>
                    <a:pt x="2027117" y="2667263"/>
                    <a:pt x="2101462" y="2665994"/>
                    <a:pt x="2172833" y="2665994"/>
                  </a:cubicBezTo>
                  <a:cubicBezTo>
                    <a:pt x="2256100" y="2665994"/>
                    <a:pt x="2336392" y="2667263"/>
                    <a:pt x="2419659" y="2667263"/>
                  </a:cubicBezTo>
                  <a:cubicBezTo>
                    <a:pt x="2541584" y="2667263"/>
                    <a:pt x="2666484" y="2667263"/>
                    <a:pt x="2788410" y="2667263"/>
                  </a:cubicBezTo>
                  <a:cubicBezTo>
                    <a:pt x="2901414" y="2667263"/>
                    <a:pt x="3014418" y="2668534"/>
                    <a:pt x="3127423" y="2669804"/>
                  </a:cubicBezTo>
                  <a:cubicBezTo>
                    <a:pt x="3177977" y="2669804"/>
                    <a:pt x="3231506" y="2671074"/>
                    <a:pt x="3282060" y="2671074"/>
                  </a:cubicBezTo>
                  <a:cubicBezTo>
                    <a:pt x="3445619" y="2669804"/>
                    <a:pt x="3606204" y="2663454"/>
                    <a:pt x="3761657" y="2663454"/>
                  </a:cubicBezTo>
                  <a:cubicBezTo>
                    <a:pt x="3765467" y="2663454"/>
                    <a:pt x="3770547" y="2660913"/>
                    <a:pt x="3774357" y="2658374"/>
                  </a:cubicBezTo>
                  <a:cubicBezTo>
                    <a:pt x="3779437" y="2654563"/>
                    <a:pt x="3781977" y="2648213"/>
                    <a:pt x="3784517" y="2645674"/>
                  </a:cubicBezTo>
                  <a:cubicBezTo>
                    <a:pt x="3785787" y="2580875"/>
                    <a:pt x="3787057" y="2495006"/>
                    <a:pt x="3788327" y="2409136"/>
                  </a:cubicBezTo>
                  <a:cubicBezTo>
                    <a:pt x="3789597" y="2276243"/>
                    <a:pt x="3799757" y="1000469"/>
                    <a:pt x="3801027" y="867575"/>
                  </a:cubicBezTo>
                  <a:cubicBezTo>
                    <a:pt x="3801027" y="787839"/>
                    <a:pt x="3802297" y="708104"/>
                    <a:pt x="3803567" y="628368"/>
                  </a:cubicBezTo>
                  <a:cubicBezTo>
                    <a:pt x="3804837" y="542498"/>
                    <a:pt x="3806107" y="456629"/>
                    <a:pt x="3808647" y="370759"/>
                  </a:cubicBezTo>
                  <a:cubicBezTo>
                    <a:pt x="3809917" y="319647"/>
                    <a:pt x="3809917" y="266489"/>
                    <a:pt x="3814997" y="215377"/>
                  </a:cubicBezTo>
                  <a:cubicBezTo>
                    <a:pt x="3820077" y="154041"/>
                    <a:pt x="3822617" y="94750"/>
                    <a:pt x="3821347" y="44450"/>
                  </a:cubicBezTo>
                  <a:cubicBezTo>
                    <a:pt x="3821347" y="38100"/>
                    <a:pt x="3817537" y="30480"/>
                    <a:pt x="3811187" y="2794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597038" y="3873865"/>
            <a:ext cx="6643667" cy="4702782"/>
            <a:chOff x="0" y="0"/>
            <a:chExt cx="3775246" cy="26723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-1270"/>
              <a:ext cx="3776516" cy="2671074"/>
            </a:xfrm>
            <a:custGeom>
              <a:avLst/>
              <a:gdLst/>
              <a:ahLst/>
              <a:cxnLst/>
              <a:rect r="r" b="b" t="t" l="l"/>
              <a:pathLst>
                <a:path h="2671074" w="3776516">
                  <a:moveTo>
                    <a:pt x="3765086" y="27940"/>
                  </a:moveTo>
                  <a:cubicBezTo>
                    <a:pt x="3756196" y="24130"/>
                    <a:pt x="3747306" y="21590"/>
                    <a:pt x="3738416" y="21590"/>
                  </a:cubicBezTo>
                  <a:cubicBezTo>
                    <a:pt x="3711746" y="20320"/>
                    <a:pt x="3655942" y="20320"/>
                    <a:pt x="3594271" y="17780"/>
                  </a:cubicBezTo>
                  <a:cubicBezTo>
                    <a:pt x="3453308" y="12700"/>
                    <a:pt x="3315283" y="6350"/>
                    <a:pt x="3174320" y="3810"/>
                  </a:cubicBezTo>
                  <a:cubicBezTo>
                    <a:pt x="3059788" y="1270"/>
                    <a:pt x="2948193" y="3810"/>
                    <a:pt x="2833661" y="2540"/>
                  </a:cubicBezTo>
                  <a:cubicBezTo>
                    <a:pt x="2783736" y="2540"/>
                    <a:pt x="2733812" y="0"/>
                    <a:pt x="2683888" y="2540"/>
                  </a:cubicBezTo>
                  <a:cubicBezTo>
                    <a:pt x="2563482" y="10160"/>
                    <a:pt x="2443077" y="11430"/>
                    <a:pt x="2319735" y="8890"/>
                  </a:cubicBezTo>
                  <a:cubicBezTo>
                    <a:pt x="2258064" y="7620"/>
                    <a:pt x="2196392" y="7620"/>
                    <a:pt x="2134721" y="7620"/>
                  </a:cubicBezTo>
                  <a:cubicBezTo>
                    <a:pt x="2023126" y="7620"/>
                    <a:pt x="1911531" y="7620"/>
                    <a:pt x="1799936" y="6350"/>
                  </a:cubicBezTo>
                  <a:cubicBezTo>
                    <a:pt x="1682467" y="5080"/>
                    <a:pt x="525400" y="2540"/>
                    <a:pt x="410868" y="1270"/>
                  </a:cubicBezTo>
                  <a:cubicBezTo>
                    <a:pt x="316893" y="0"/>
                    <a:pt x="225855" y="1270"/>
                    <a:pt x="131880" y="1270"/>
                  </a:cubicBezTo>
                  <a:cubicBezTo>
                    <a:pt x="67272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49952"/>
                    <a:pt x="16510" y="266489"/>
                    <a:pt x="17780" y="380982"/>
                  </a:cubicBezTo>
                  <a:cubicBezTo>
                    <a:pt x="19050" y="497519"/>
                    <a:pt x="17780" y="614056"/>
                    <a:pt x="16510" y="732638"/>
                  </a:cubicBezTo>
                  <a:cubicBezTo>
                    <a:pt x="15240" y="853264"/>
                    <a:pt x="2540" y="2118816"/>
                    <a:pt x="2540" y="2239442"/>
                  </a:cubicBezTo>
                  <a:cubicBezTo>
                    <a:pt x="2540" y="2358024"/>
                    <a:pt x="1270" y="2476605"/>
                    <a:pt x="0" y="2595187"/>
                  </a:cubicBezTo>
                  <a:cubicBezTo>
                    <a:pt x="0" y="2616463"/>
                    <a:pt x="3810" y="2626624"/>
                    <a:pt x="15240" y="2631704"/>
                  </a:cubicBezTo>
                  <a:cubicBezTo>
                    <a:pt x="22860" y="2635513"/>
                    <a:pt x="31750" y="2638054"/>
                    <a:pt x="40640" y="2639324"/>
                  </a:cubicBezTo>
                  <a:cubicBezTo>
                    <a:pt x="128943" y="2644404"/>
                    <a:pt x="240538" y="2648213"/>
                    <a:pt x="352133" y="2653294"/>
                  </a:cubicBezTo>
                  <a:cubicBezTo>
                    <a:pt x="413804" y="2655834"/>
                    <a:pt x="475475" y="2660913"/>
                    <a:pt x="537147" y="2662184"/>
                  </a:cubicBezTo>
                  <a:cubicBezTo>
                    <a:pt x="639932" y="2664724"/>
                    <a:pt x="1785252" y="2665994"/>
                    <a:pt x="1888037" y="2667263"/>
                  </a:cubicBezTo>
                  <a:cubicBezTo>
                    <a:pt x="1902721" y="2667263"/>
                    <a:pt x="1917404" y="2667263"/>
                    <a:pt x="1932088" y="2667263"/>
                  </a:cubicBezTo>
                  <a:cubicBezTo>
                    <a:pt x="2002569" y="2667263"/>
                    <a:pt x="2075987" y="2665994"/>
                    <a:pt x="2146468" y="2665994"/>
                  </a:cubicBezTo>
                  <a:cubicBezTo>
                    <a:pt x="2228696" y="2665994"/>
                    <a:pt x="2307988" y="2667263"/>
                    <a:pt x="2390216" y="2667263"/>
                  </a:cubicBezTo>
                  <a:cubicBezTo>
                    <a:pt x="2510621" y="2667263"/>
                    <a:pt x="2633964" y="2667263"/>
                    <a:pt x="2754369" y="2667263"/>
                  </a:cubicBezTo>
                  <a:cubicBezTo>
                    <a:pt x="2865964" y="2667263"/>
                    <a:pt x="2977560" y="2668534"/>
                    <a:pt x="3089155" y="2669804"/>
                  </a:cubicBezTo>
                  <a:cubicBezTo>
                    <a:pt x="3139079" y="2669804"/>
                    <a:pt x="3191940" y="2671074"/>
                    <a:pt x="3241864" y="2671074"/>
                  </a:cubicBezTo>
                  <a:cubicBezTo>
                    <a:pt x="3403384" y="2669804"/>
                    <a:pt x="3561967" y="2663454"/>
                    <a:pt x="3715556" y="2663454"/>
                  </a:cubicBezTo>
                  <a:cubicBezTo>
                    <a:pt x="3719366" y="2663454"/>
                    <a:pt x="3724446" y="2660913"/>
                    <a:pt x="3728256" y="2658374"/>
                  </a:cubicBezTo>
                  <a:cubicBezTo>
                    <a:pt x="3733336" y="2654563"/>
                    <a:pt x="3735876" y="2648213"/>
                    <a:pt x="3738416" y="2645674"/>
                  </a:cubicBezTo>
                  <a:cubicBezTo>
                    <a:pt x="3739686" y="2580875"/>
                    <a:pt x="3740956" y="2495006"/>
                    <a:pt x="3742226" y="2409136"/>
                  </a:cubicBezTo>
                  <a:cubicBezTo>
                    <a:pt x="3743496" y="2276243"/>
                    <a:pt x="3753656" y="1000469"/>
                    <a:pt x="3754926" y="867575"/>
                  </a:cubicBezTo>
                  <a:cubicBezTo>
                    <a:pt x="3754926" y="787839"/>
                    <a:pt x="3756196" y="708104"/>
                    <a:pt x="3757466" y="628368"/>
                  </a:cubicBezTo>
                  <a:cubicBezTo>
                    <a:pt x="3758736" y="542498"/>
                    <a:pt x="3760006" y="456629"/>
                    <a:pt x="3762546" y="370759"/>
                  </a:cubicBezTo>
                  <a:cubicBezTo>
                    <a:pt x="3763816" y="319647"/>
                    <a:pt x="3763816" y="266489"/>
                    <a:pt x="3768896" y="215377"/>
                  </a:cubicBezTo>
                  <a:cubicBezTo>
                    <a:pt x="3773976" y="154041"/>
                    <a:pt x="3776516" y="94750"/>
                    <a:pt x="3775246" y="44450"/>
                  </a:cubicBezTo>
                  <a:cubicBezTo>
                    <a:pt x="3775246" y="38100"/>
                    <a:pt x="3771436" y="30480"/>
                    <a:pt x="3765086" y="2794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228688">
            <a:off x="4419538" y="3601043"/>
            <a:ext cx="2334231" cy="768174"/>
          </a:xfrm>
          <a:custGeom>
            <a:avLst/>
            <a:gdLst/>
            <a:ahLst/>
            <a:cxnLst/>
            <a:rect r="r" b="b" t="t" l="l"/>
            <a:pathLst>
              <a:path h="768174" w="2334231">
                <a:moveTo>
                  <a:pt x="0" y="0"/>
                </a:moveTo>
                <a:lnTo>
                  <a:pt x="2334231" y="0"/>
                </a:lnTo>
                <a:lnTo>
                  <a:pt x="2334231" y="768174"/>
                </a:lnTo>
                <a:lnTo>
                  <a:pt x="0" y="7681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15961" y="1323975"/>
            <a:ext cx="11141828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 spc="-80">
                <a:solidFill>
                  <a:srgbClr val="FFFFFF"/>
                </a:solidFill>
                <a:latin typeface="Bogart Bold"/>
                <a:ea typeface="Bogart Bold"/>
                <a:cs typeface="Bogart Bold"/>
                <a:sym typeface="Bogart Bold"/>
              </a:rPr>
              <a:t>Data Preprocessing</a:t>
            </a:r>
          </a:p>
          <a:p>
            <a:pPr algn="ctr" marL="0" indent="0" lvl="0">
              <a:lnSpc>
                <a:spcPts val="80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486487" y="5053988"/>
            <a:ext cx="6019089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4560"/>
              </a:lnSpc>
              <a:buFont typeface="Arial"/>
              <a:buChar char="•"/>
            </a:pPr>
            <a:r>
              <a:rPr lang="en-US" b="true" sz="38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Handle missing values and outliers</a:t>
            </a:r>
          </a:p>
          <a:p>
            <a:pPr algn="l" marL="820421" indent="-410210" lvl="1">
              <a:lnSpc>
                <a:spcPts val="4560"/>
              </a:lnSpc>
              <a:buFont typeface="Arial"/>
              <a:buChar char="•"/>
            </a:pPr>
            <a:r>
              <a:rPr lang="en-US" b="true" sz="38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Encode categorical variables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494685">
            <a:off x="11751756" y="3601043"/>
            <a:ext cx="2334231" cy="768174"/>
          </a:xfrm>
          <a:custGeom>
            <a:avLst/>
            <a:gdLst/>
            <a:ahLst/>
            <a:cxnLst/>
            <a:rect r="r" b="b" t="t" l="l"/>
            <a:pathLst>
              <a:path h="768174" w="2334231">
                <a:moveTo>
                  <a:pt x="0" y="0"/>
                </a:moveTo>
                <a:lnTo>
                  <a:pt x="2334231" y="0"/>
                </a:lnTo>
                <a:lnTo>
                  <a:pt x="2334231" y="768174"/>
                </a:lnTo>
                <a:lnTo>
                  <a:pt x="0" y="7681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946191">
            <a:off x="14450079" y="966203"/>
            <a:ext cx="1356904" cy="1767432"/>
          </a:xfrm>
          <a:custGeom>
            <a:avLst/>
            <a:gdLst/>
            <a:ahLst/>
            <a:cxnLst/>
            <a:rect r="r" b="b" t="t" l="l"/>
            <a:pathLst>
              <a:path h="1767432" w="1356904">
                <a:moveTo>
                  <a:pt x="0" y="0"/>
                </a:moveTo>
                <a:lnTo>
                  <a:pt x="1356904" y="0"/>
                </a:lnTo>
                <a:lnTo>
                  <a:pt x="1356904" y="1767433"/>
                </a:lnTo>
                <a:lnTo>
                  <a:pt x="0" y="17674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23589" t="0" r="0" b="-79771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3531975">
            <a:off x="15680175" y="2251585"/>
            <a:ext cx="1121060" cy="1052053"/>
          </a:xfrm>
          <a:custGeom>
            <a:avLst/>
            <a:gdLst/>
            <a:ahLst/>
            <a:cxnLst/>
            <a:rect r="r" b="b" t="t" l="l"/>
            <a:pathLst>
              <a:path h="1052053" w="1121060">
                <a:moveTo>
                  <a:pt x="0" y="0"/>
                </a:moveTo>
                <a:lnTo>
                  <a:pt x="1121060" y="0"/>
                </a:lnTo>
                <a:lnTo>
                  <a:pt x="1121060" y="1052054"/>
                </a:lnTo>
                <a:lnTo>
                  <a:pt x="0" y="1052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8858" t="-92879" r="-122806" b="-10913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035113">
            <a:off x="15809915" y="939140"/>
            <a:ext cx="1492443" cy="847020"/>
          </a:xfrm>
          <a:custGeom>
            <a:avLst/>
            <a:gdLst/>
            <a:ahLst/>
            <a:cxnLst/>
            <a:rect r="r" b="b" t="t" l="l"/>
            <a:pathLst>
              <a:path h="847020" w="1492443">
                <a:moveTo>
                  <a:pt x="0" y="0"/>
                </a:moveTo>
                <a:lnTo>
                  <a:pt x="1492444" y="0"/>
                </a:lnTo>
                <a:lnTo>
                  <a:pt x="1492444" y="847021"/>
                </a:lnTo>
                <a:lnTo>
                  <a:pt x="0" y="8470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5893" t="0" r="-128308" b="-27512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486487" y="854292"/>
            <a:ext cx="1541785" cy="1416865"/>
          </a:xfrm>
          <a:custGeom>
            <a:avLst/>
            <a:gdLst/>
            <a:ahLst/>
            <a:cxnLst/>
            <a:rect r="r" b="b" t="t" l="l"/>
            <a:pathLst>
              <a:path h="1416865" w="1541785">
                <a:moveTo>
                  <a:pt x="0" y="0"/>
                </a:moveTo>
                <a:lnTo>
                  <a:pt x="1541785" y="0"/>
                </a:lnTo>
                <a:lnTo>
                  <a:pt x="1541785" y="1416865"/>
                </a:lnTo>
                <a:lnTo>
                  <a:pt x="0" y="14168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70" t="-52897" r="-134299" b="-3259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11074" y="1967715"/>
            <a:ext cx="1274852" cy="1469930"/>
          </a:xfrm>
          <a:custGeom>
            <a:avLst/>
            <a:gdLst/>
            <a:ahLst/>
            <a:cxnLst/>
            <a:rect r="r" b="b" t="t" l="l"/>
            <a:pathLst>
              <a:path h="1469930" w="1274852">
                <a:moveTo>
                  <a:pt x="0" y="0"/>
                </a:moveTo>
                <a:lnTo>
                  <a:pt x="1274853" y="0"/>
                </a:lnTo>
                <a:lnTo>
                  <a:pt x="1274853" y="1469931"/>
                </a:lnTo>
                <a:lnTo>
                  <a:pt x="0" y="1469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12551" t="-12414" r="0" b="-83742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909327" y="5139505"/>
            <a:ext cx="6019089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4560"/>
              </a:lnSpc>
              <a:buFont typeface="Arial"/>
              <a:buChar char="•"/>
            </a:pPr>
            <a:r>
              <a:rPr lang="en-US" b="true" sz="38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Check the correlation of features and drop the less important columns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57275"/>
            <a:ext cx="9529437" cy="8229600"/>
            <a:chOff x="0" y="0"/>
            <a:chExt cx="4022688" cy="3473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4023958" cy="3472714"/>
            </a:xfrm>
            <a:custGeom>
              <a:avLst/>
              <a:gdLst/>
              <a:ahLst/>
              <a:cxnLst/>
              <a:rect r="r" b="b" t="t" l="l"/>
              <a:pathLst>
                <a:path h="3472714" w="4023958">
                  <a:moveTo>
                    <a:pt x="4012528" y="27940"/>
                  </a:moveTo>
                  <a:cubicBezTo>
                    <a:pt x="4003638" y="24130"/>
                    <a:pt x="3994748" y="21590"/>
                    <a:pt x="3985858" y="21590"/>
                  </a:cubicBezTo>
                  <a:cubicBezTo>
                    <a:pt x="3959188" y="20320"/>
                    <a:pt x="3899753" y="20320"/>
                    <a:pt x="3833902" y="17780"/>
                  </a:cubicBezTo>
                  <a:cubicBezTo>
                    <a:pt x="3683386" y="12700"/>
                    <a:pt x="3536007" y="6350"/>
                    <a:pt x="3385491" y="3810"/>
                  </a:cubicBezTo>
                  <a:cubicBezTo>
                    <a:pt x="3263197" y="1270"/>
                    <a:pt x="3144039" y="3810"/>
                    <a:pt x="3021745" y="2540"/>
                  </a:cubicBezTo>
                  <a:cubicBezTo>
                    <a:pt x="2968437" y="2540"/>
                    <a:pt x="2915129" y="0"/>
                    <a:pt x="2861821" y="2540"/>
                  </a:cubicBezTo>
                  <a:cubicBezTo>
                    <a:pt x="2733256" y="10160"/>
                    <a:pt x="2604691" y="11430"/>
                    <a:pt x="2472989" y="8890"/>
                  </a:cubicBezTo>
                  <a:cubicBezTo>
                    <a:pt x="2407139" y="7620"/>
                    <a:pt x="2341288" y="7620"/>
                    <a:pt x="2275437" y="7620"/>
                  </a:cubicBezTo>
                  <a:cubicBezTo>
                    <a:pt x="2156279" y="7620"/>
                    <a:pt x="2037121" y="7620"/>
                    <a:pt x="1917963" y="6350"/>
                  </a:cubicBezTo>
                  <a:cubicBezTo>
                    <a:pt x="1792533" y="5080"/>
                    <a:pt x="557050" y="2540"/>
                    <a:pt x="434756" y="1270"/>
                  </a:cubicBezTo>
                  <a:cubicBezTo>
                    <a:pt x="334412" y="0"/>
                    <a:pt x="237204" y="1270"/>
                    <a:pt x="136860" y="1270"/>
                  </a:cubicBezTo>
                  <a:cubicBezTo>
                    <a:pt x="67874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33724" y="3446044"/>
                    <a:pt x="252883" y="3449854"/>
                    <a:pt x="372041" y="3454934"/>
                  </a:cubicBezTo>
                  <a:cubicBezTo>
                    <a:pt x="437891" y="3457474"/>
                    <a:pt x="503742" y="3462554"/>
                    <a:pt x="569593" y="3463824"/>
                  </a:cubicBezTo>
                  <a:cubicBezTo>
                    <a:pt x="679344" y="3466364"/>
                    <a:pt x="1902284" y="3467634"/>
                    <a:pt x="2012035" y="3468904"/>
                  </a:cubicBezTo>
                  <a:cubicBezTo>
                    <a:pt x="2027714" y="3468904"/>
                    <a:pt x="2043392" y="3468904"/>
                    <a:pt x="2059071" y="3468904"/>
                  </a:cubicBezTo>
                  <a:cubicBezTo>
                    <a:pt x="2134329" y="3468904"/>
                    <a:pt x="2212722" y="3467634"/>
                    <a:pt x="2287980" y="3467634"/>
                  </a:cubicBezTo>
                  <a:cubicBezTo>
                    <a:pt x="2375781" y="3467634"/>
                    <a:pt x="2460446" y="3468904"/>
                    <a:pt x="2548247" y="3468904"/>
                  </a:cubicBezTo>
                  <a:cubicBezTo>
                    <a:pt x="2676813" y="3468904"/>
                    <a:pt x="2808514" y="3468904"/>
                    <a:pt x="2937079" y="3468904"/>
                  </a:cubicBezTo>
                  <a:cubicBezTo>
                    <a:pt x="3056237" y="3468904"/>
                    <a:pt x="3175396" y="3470174"/>
                    <a:pt x="3294554" y="3471444"/>
                  </a:cubicBezTo>
                  <a:cubicBezTo>
                    <a:pt x="3347862" y="3471444"/>
                    <a:pt x="3404305" y="3472714"/>
                    <a:pt x="3457613" y="3472714"/>
                  </a:cubicBezTo>
                  <a:cubicBezTo>
                    <a:pt x="3630079" y="3471444"/>
                    <a:pt x="3799409" y="3465094"/>
                    <a:pt x="3962998" y="3465094"/>
                  </a:cubicBezTo>
                  <a:cubicBezTo>
                    <a:pt x="3966808" y="3465094"/>
                    <a:pt x="3971888" y="3462554"/>
                    <a:pt x="3975698" y="3460014"/>
                  </a:cubicBezTo>
                  <a:cubicBezTo>
                    <a:pt x="3980778" y="3456204"/>
                    <a:pt x="3983318" y="3449854"/>
                    <a:pt x="3985858" y="3447314"/>
                  </a:cubicBezTo>
                  <a:cubicBezTo>
                    <a:pt x="3987128" y="3374034"/>
                    <a:pt x="3988398" y="3261084"/>
                    <a:pt x="3989668" y="3148133"/>
                  </a:cubicBezTo>
                  <a:cubicBezTo>
                    <a:pt x="3990938" y="2973329"/>
                    <a:pt x="4001098" y="1295208"/>
                    <a:pt x="4002368" y="1120404"/>
                  </a:cubicBezTo>
                  <a:cubicBezTo>
                    <a:pt x="4002368" y="1015521"/>
                    <a:pt x="4003638" y="910639"/>
                    <a:pt x="4004908" y="805756"/>
                  </a:cubicBezTo>
                  <a:cubicBezTo>
                    <a:pt x="4006178" y="692806"/>
                    <a:pt x="4007448" y="579856"/>
                    <a:pt x="4009988" y="466905"/>
                  </a:cubicBezTo>
                  <a:cubicBezTo>
                    <a:pt x="4011258" y="399673"/>
                    <a:pt x="4011258" y="329751"/>
                    <a:pt x="4016338" y="262519"/>
                  </a:cubicBezTo>
                  <a:cubicBezTo>
                    <a:pt x="4021418" y="181840"/>
                    <a:pt x="4023958" y="103850"/>
                    <a:pt x="4022688" y="44450"/>
                  </a:cubicBezTo>
                  <a:cubicBezTo>
                    <a:pt x="4022688" y="38100"/>
                    <a:pt x="4018878" y="30480"/>
                    <a:pt x="4012528" y="2794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sp>
        <p:nvSpPr>
          <p:cNvPr name="Freeform 7" id="7"/>
          <p:cNvSpPr/>
          <p:nvPr/>
        </p:nvSpPr>
        <p:spPr>
          <a:xfrm flipH="true" flipV="false" rot="6486182">
            <a:off x="9876798" y="2738701"/>
            <a:ext cx="852177" cy="2159895"/>
          </a:xfrm>
          <a:custGeom>
            <a:avLst/>
            <a:gdLst/>
            <a:ahLst/>
            <a:cxnLst/>
            <a:rect r="r" b="b" t="t" l="l"/>
            <a:pathLst>
              <a:path h="2159895" w="852177">
                <a:moveTo>
                  <a:pt x="852177" y="0"/>
                </a:moveTo>
                <a:lnTo>
                  <a:pt x="0" y="0"/>
                </a:lnTo>
                <a:lnTo>
                  <a:pt x="0" y="2159895"/>
                </a:lnTo>
                <a:lnTo>
                  <a:pt x="852177" y="2159895"/>
                </a:lnTo>
                <a:lnTo>
                  <a:pt x="85217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61773" y="1965021"/>
            <a:ext cx="6047056" cy="6356958"/>
          </a:xfrm>
          <a:custGeom>
            <a:avLst/>
            <a:gdLst/>
            <a:ahLst/>
            <a:cxnLst/>
            <a:rect r="r" b="b" t="t" l="l"/>
            <a:pathLst>
              <a:path h="6356958" w="6047056">
                <a:moveTo>
                  <a:pt x="0" y="0"/>
                </a:moveTo>
                <a:lnTo>
                  <a:pt x="6047056" y="0"/>
                </a:lnTo>
                <a:lnTo>
                  <a:pt x="604705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09710" y="4818774"/>
            <a:ext cx="8111691" cy="328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Why use Recall to choose model? 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We want to catch as many true negative cases as possible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What kind of mistake is worse?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False Positive (predict 1, but it's actually 0)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False Negative (predict 0, but it's actually 1)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Clearly, False Negatives are more dangerous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009710" y="3068558"/>
            <a:ext cx="7323730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Models Evaluated: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Random Forest (higher Recall)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XGBoost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009710" y="1662135"/>
            <a:ext cx="7702611" cy="1148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8"/>
              </a:lnSpc>
            </a:pPr>
            <a:r>
              <a:rPr lang="en-US" b="true" sz="4800" spc="-48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Model Performance &amp; Justification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57275"/>
            <a:ext cx="16230600" cy="8229600"/>
            <a:chOff x="0" y="0"/>
            <a:chExt cx="6851469" cy="3473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6852739" cy="3472714"/>
            </a:xfrm>
            <a:custGeom>
              <a:avLst/>
              <a:gdLst/>
              <a:ahLst/>
              <a:cxnLst/>
              <a:rect r="r" b="b" t="t" l="l"/>
              <a:pathLst>
                <a:path h="3472714" w="6852739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191766" y="3207567"/>
            <a:ext cx="8867289" cy="5010018"/>
          </a:xfrm>
          <a:custGeom>
            <a:avLst/>
            <a:gdLst/>
            <a:ahLst/>
            <a:cxnLst/>
            <a:rect r="r" b="b" t="t" l="l"/>
            <a:pathLst>
              <a:path h="5010018" w="8867289">
                <a:moveTo>
                  <a:pt x="0" y="0"/>
                </a:moveTo>
                <a:lnTo>
                  <a:pt x="8867289" y="0"/>
                </a:lnTo>
                <a:lnTo>
                  <a:pt x="8867289" y="5010019"/>
                </a:lnTo>
                <a:lnTo>
                  <a:pt x="0" y="501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50740" y="3198042"/>
            <a:ext cx="7230987" cy="616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Top 5 most important features:</a:t>
            </a:r>
          </a:p>
          <a:p>
            <a:pPr algn="l" marL="518162" indent="-259081" lvl="1">
              <a:lnSpc>
                <a:spcPts val="2880"/>
              </a:lnSpc>
              <a:buAutoNum type="arabicPeriod" startAt="1"/>
            </a:pP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Heart_Rate</a:t>
            </a:r>
          </a:p>
          <a:p>
            <a:pPr algn="l" marL="518162" indent="-259081" lvl="1">
              <a:lnSpc>
                <a:spcPts val="2880"/>
              </a:lnSpc>
              <a:buAutoNum type="arabicPeriod" startAt="1"/>
            </a:pP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Hemoglobin</a:t>
            </a:r>
          </a:p>
          <a:p>
            <a:pPr algn="l" marL="518162" indent="-259081" lvl="1">
              <a:lnSpc>
                <a:spcPts val="2880"/>
              </a:lnSpc>
              <a:buAutoNum type="arabicPeriod" startAt="1"/>
            </a:pP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Creatinine</a:t>
            </a:r>
          </a:p>
          <a:p>
            <a:pPr algn="l" marL="518162" indent="-259081" lvl="1">
              <a:lnSpc>
                <a:spcPts val="2880"/>
              </a:lnSpc>
              <a:buAutoNum type="arabicPeriod" startAt="1"/>
            </a:pP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NT_proBNP</a:t>
            </a:r>
          </a:p>
          <a:p>
            <a:pPr algn="l" marL="518162" indent="-259081" lvl="1">
              <a:lnSpc>
                <a:spcPts val="2880"/>
              </a:lnSpc>
              <a:buAutoNum type="arabicPeriod" startAt="1"/>
            </a:pP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Pulse</a:t>
            </a:r>
          </a:p>
          <a:p>
            <a:pPr algn="l">
              <a:lnSpc>
                <a:spcPts val="2880"/>
              </a:lnSpc>
            </a:pPr>
          </a:p>
          <a:p>
            <a:pPr algn="l" marL="518162" indent="-259081" lvl="1">
              <a:lnSpc>
                <a:spcPts val="2880"/>
              </a:lnSpc>
              <a:buFont typeface="Arial"/>
              <a:buChar char="•"/>
            </a:pP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Ext</a:t>
            </a: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remely low or high heart rates are not always linked with increased readmission risk.</a:t>
            </a:r>
          </a:p>
          <a:p>
            <a:pPr algn="l" marL="518162" indent="-259081" lvl="1">
              <a:lnSpc>
                <a:spcPts val="2880"/>
              </a:lnSpc>
              <a:buFont typeface="Arial"/>
              <a:buChar char="•"/>
            </a:pP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Possibly due to more aggressive treatment or hospital stay extensions in patients with abnormal vitals.</a:t>
            </a:r>
          </a:p>
          <a:p>
            <a:pPr algn="l" marL="518162" indent="-259081" lvl="1">
              <a:lnSpc>
                <a:spcPts val="2880"/>
              </a:lnSpc>
              <a:buFont typeface="Arial"/>
              <a:buChar char="•"/>
            </a:pP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Low hemoglobin may indicate anemia, which is common in HF and associated with worse outcomes.</a:t>
            </a:r>
          </a:p>
          <a:p>
            <a:pPr algn="l">
              <a:lnSpc>
                <a:spcPts val="2880"/>
              </a:lnSpc>
            </a:pPr>
          </a:p>
          <a:p>
            <a:pPr algn="l">
              <a:lnSpc>
                <a:spcPts val="288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50740" y="1960336"/>
            <a:ext cx="7702611" cy="102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62"/>
              </a:lnSpc>
            </a:pPr>
            <a:r>
              <a:rPr lang="en-US" b="true" sz="8200" spc="-82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Key Findings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57275"/>
            <a:ext cx="16230600" cy="8229600"/>
            <a:chOff x="0" y="0"/>
            <a:chExt cx="6851469" cy="3473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6852739" cy="3472714"/>
            </a:xfrm>
            <a:custGeom>
              <a:avLst/>
              <a:gdLst/>
              <a:ahLst/>
              <a:cxnLst/>
              <a:rect r="r" b="b" t="t" l="l"/>
              <a:pathLst>
                <a:path h="3472714" w="6852739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370803" y="3927532"/>
            <a:ext cx="6485984" cy="1554196"/>
            <a:chOff x="0" y="0"/>
            <a:chExt cx="3425887" cy="8209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1270"/>
              <a:ext cx="3427157" cy="819654"/>
            </a:xfrm>
            <a:custGeom>
              <a:avLst/>
              <a:gdLst/>
              <a:ahLst/>
              <a:cxnLst/>
              <a:rect r="r" b="b" t="t" l="l"/>
              <a:pathLst>
                <a:path h="819654" w="3427157">
                  <a:moveTo>
                    <a:pt x="3415727" y="27940"/>
                  </a:moveTo>
                  <a:cubicBezTo>
                    <a:pt x="3406837" y="24130"/>
                    <a:pt x="3397947" y="21590"/>
                    <a:pt x="3389057" y="21590"/>
                  </a:cubicBezTo>
                  <a:cubicBezTo>
                    <a:pt x="3362387" y="20320"/>
                    <a:pt x="3311709" y="20320"/>
                    <a:pt x="3255938" y="17780"/>
                  </a:cubicBezTo>
                  <a:cubicBezTo>
                    <a:pt x="3128464" y="12700"/>
                    <a:pt x="3003646" y="6350"/>
                    <a:pt x="2876171" y="3810"/>
                  </a:cubicBezTo>
                  <a:cubicBezTo>
                    <a:pt x="2772598" y="1270"/>
                    <a:pt x="2671681" y="3810"/>
                    <a:pt x="2568108" y="2540"/>
                  </a:cubicBezTo>
                  <a:cubicBezTo>
                    <a:pt x="2522960" y="2540"/>
                    <a:pt x="2477813" y="0"/>
                    <a:pt x="2432666" y="2540"/>
                  </a:cubicBezTo>
                  <a:cubicBezTo>
                    <a:pt x="2323782" y="10160"/>
                    <a:pt x="2214897" y="11430"/>
                    <a:pt x="2103357" y="8890"/>
                  </a:cubicBezTo>
                  <a:cubicBezTo>
                    <a:pt x="2047587" y="7620"/>
                    <a:pt x="1991817" y="7620"/>
                    <a:pt x="1936047" y="7620"/>
                  </a:cubicBezTo>
                  <a:cubicBezTo>
                    <a:pt x="1835129" y="7620"/>
                    <a:pt x="1734212" y="7620"/>
                    <a:pt x="1633295" y="6350"/>
                  </a:cubicBezTo>
                  <a:cubicBezTo>
                    <a:pt x="1527066" y="5080"/>
                    <a:pt x="480714" y="2540"/>
                    <a:pt x="377141" y="1270"/>
                  </a:cubicBezTo>
                  <a:cubicBezTo>
                    <a:pt x="292158" y="0"/>
                    <a:pt x="209830" y="1270"/>
                    <a:pt x="124848" y="1270"/>
                  </a:cubicBezTo>
                  <a:cubicBezTo>
                    <a:pt x="66422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88729"/>
                    <a:pt x="16510" y="120384"/>
                    <a:pt x="17780" y="151484"/>
                  </a:cubicBezTo>
                  <a:cubicBezTo>
                    <a:pt x="19050" y="183139"/>
                    <a:pt x="17780" y="214794"/>
                    <a:pt x="16510" y="247005"/>
                  </a:cubicBezTo>
                  <a:cubicBezTo>
                    <a:pt x="15240" y="279771"/>
                    <a:pt x="2540" y="623535"/>
                    <a:pt x="2540" y="656301"/>
                  </a:cubicBezTo>
                  <a:cubicBezTo>
                    <a:pt x="2540" y="688511"/>
                    <a:pt x="1270" y="720722"/>
                    <a:pt x="0" y="752932"/>
                  </a:cubicBezTo>
                  <a:cubicBezTo>
                    <a:pt x="0" y="765044"/>
                    <a:pt x="3810" y="775204"/>
                    <a:pt x="15240" y="780284"/>
                  </a:cubicBezTo>
                  <a:cubicBezTo>
                    <a:pt x="22860" y="784094"/>
                    <a:pt x="31750" y="786634"/>
                    <a:pt x="40640" y="787904"/>
                  </a:cubicBezTo>
                  <a:cubicBezTo>
                    <a:pt x="122192" y="792984"/>
                    <a:pt x="223109" y="796794"/>
                    <a:pt x="324026" y="801874"/>
                  </a:cubicBezTo>
                  <a:cubicBezTo>
                    <a:pt x="379796" y="804414"/>
                    <a:pt x="435566" y="809494"/>
                    <a:pt x="491336" y="810764"/>
                  </a:cubicBezTo>
                  <a:cubicBezTo>
                    <a:pt x="584287" y="813304"/>
                    <a:pt x="1620016" y="814574"/>
                    <a:pt x="1712967" y="815844"/>
                  </a:cubicBezTo>
                  <a:cubicBezTo>
                    <a:pt x="1726245" y="815844"/>
                    <a:pt x="1739524" y="815844"/>
                    <a:pt x="1752802" y="815844"/>
                  </a:cubicBezTo>
                  <a:cubicBezTo>
                    <a:pt x="1816540" y="815844"/>
                    <a:pt x="1882933" y="814574"/>
                    <a:pt x="1946670" y="814574"/>
                  </a:cubicBezTo>
                  <a:cubicBezTo>
                    <a:pt x="2021030" y="814574"/>
                    <a:pt x="2092734" y="815844"/>
                    <a:pt x="2167094" y="815844"/>
                  </a:cubicBezTo>
                  <a:cubicBezTo>
                    <a:pt x="2275979" y="815844"/>
                    <a:pt x="2387519" y="815844"/>
                    <a:pt x="2496403" y="815844"/>
                  </a:cubicBezTo>
                  <a:cubicBezTo>
                    <a:pt x="2597320" y="815844"/>
                    <a:pt x="2698238" y="817114"/>
                    <a:pt x="2799155" y="818384"/>
                  </a:cubicBezTo>
                  <a:cubicBezTo>
                    <a:pt x="2844302" y="818384"/>
                    <a:pt x="2892105" y="819654"/>
                    <a:pt x="2937252" y="819654"/>
                  </a:cubicBezTo>
                  <a:cubicBezTo>
                    <a:pt x="3083317" y="818384"/>
                    <a:pt x="3226726" y="812034"/>
                    <a:pt x="3366197" y="812034"/>
                  </a:cubicBezTo>
                  <a:cubicBezTo>
                    <a:pt x="3370007" y="812034"/>
                    <a:pt x="3375087" y="809494"/>
                    <a:pt x="3378897" y="806954"/>
                  </a:cubicBezTo>
                  <a:cubicBezTo>
                    <a:pt x="3383977" y="803144"/>
                    <a:pt x="3386517" y="796794"/>
                    <a:pt x="3389057" y="794254"/>
                  </a:cubicBezTo>
                  <a:cubicBezTo>
                    <a:pt x="3390327" y="749045"/>
                    <a:pt x="3391597" y="725720"/>
                    <a:pt x="3392867" y="702395"/>
                  </a:cubicBezTo>
                  <a:cubicBezTo>
                    <a:pt x="3394137" y="666297"/>
                    <a:pt x="3404297" y="319756"/>
                    <a:pt x="3405567" y="283658"/>
                  </a:cubicBezTo>
                  <a:cubicBezTo>
                    <a:pt x="3405567" y="261999"/>
                    <a:pt x="3406837" y="240340"/>
                    <a:pt x="3408107" y="218682"/>
                  </a:cubicBezTo>
                  <a:cubicBezTo>
                    <a:pt x="3409377" y="195357"/>
                    <a:pt x="3410647" y="172032"/>
                    <a:pt x="3413187" y="148707"/>
                  </a:cubicBezTo>
                  <a:cubicBezTo>
                    <a:pt x="3414457" y="134823"/>
                    <a:pt x="3414457" y="120384"/>
                    <a:pt x="3419537" y="106500"/>
                  </a:cubicBezTo>
                  <a:cubicBezTo>
                    <a:pt x="3424617" y="89840"/>
                    <a:pt x="3427157" y="73734"/>
                    <a:pt x="3425887" y="44450"/>
                  </a:cubicBezTo>
                  <a:cubicBezTo>
                    <a:pt x="3425887" y="38100"/>
                    <a:pt x="3422077" y="30480"/>
                    <a:pt x="3415727" y="2794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370803" y="5963346"/>
            <a:ext cx="6485984" cy="2663048"/>
            <a:chOff x="0" y="0"/>
            <a:chExt cx="3425887" cy="14066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-1270"/>
              <a:ext cx="3427157" cy="1405348"/>
            </a:xfrm>
            <a:custGeom>
              <a:avLst/>
              <a:gdLst/>
              <a:ahLst/>
              <a:cxnLst/>
              <a:rect r="r" b="b" t="t" l="l"/>
              <a:pathLst>
                <a:path h="1405348" w="3427157">
                  <a:moveTo>
                    <a:pt x="3415727" y="27940"/>
                  </a:moveTo>
                  <a:cubicBezTo>
                    <a:pt x="3406837" y="24130"/>
                    <a:pt x="3397947" y="21590"/>
                    <a:pt x="3389057" y="21590"/>
                  </a:cubicBezTo>
                  <a:cubicBezTo>
                    <a:pt x="3362387" y="20320"/>
                    <a:pt x="3311709" y="20320"/>
                    <a:pt x="3255938" y="17780"/>
                  </a:cubicBezTo>
                  <a:cubicBezTo>
                    <a:pt x="3128464" y="12700"/>
                    <a:pt x="3003646" y="6350"/>
                    <a:pt x="2876171" y="3810"/>
                  </a:cubicBezTo>
                  <a:cubicBezTo>
                    <a:pt x="2772598" y="1270"/>
                    <a:pt x="2671681" y="3810"/>
                    <a:pt x="2568108" y="2540"/>
                  </a:cubicBezTo>
                  <a:cubicBezTo>
                    <a:pt x="2522960" y="2540"/>
                    <a:pt x="2477813" y="0"/>
                    <a:pt x="2432666" y="2540"/>
                  </a:cubicBezTo>
                  <a:cubicBezTo>
                    <a:pt x="2323782" y="10160"/>
                    <a:pt x="2214897" y="11430"/>
                    <a:pt x="2103357" y="8890"/>
                  </a:cubicBezTo>
                  <a:cubicBezTo>
                    <a:pt x="2047587" y="7620"/>
                    <a:pt x="1991817" y="7620"/>
                    <a:pt x="1936047" y="7620"/>
                  </a:cubicBezTo>
                  <a:cubicBezTo>
                    <a:pt x="1835129" y="7620"/>
                    <a:pt x="1734212" y="7620"/>
                    <a:pt x="1633295" y="6350"/>
                  </a:cubicBezTo>
                  <a:cubicBezTo>
                    <a:pt x="1527066" y="5080"/>
                    <a:pt x="480714" y="2540"/>
                    <a:pt x="377141" y="1270"/>
                  </a:cubicBezTo>
                  <a:cubicBezTo>
                    <a:pt x="292158" y="0"/>
                    <a:pt x="209830" y="1270"/>
                    <a:pt x="124848" y="1270"/>
                  </a:cubicBezTo>
                  <a:cubicBezTo>
                    <a:pt x="66422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08097"/>
                    <a:pt x="16510" y="166604"/>
                    <a:pt x="17780" y="224085"/>
                  </a:cubicBezTo>
                  <a:cubicBezTo>
                    <a:pt x="19050" y="282593"/>
                    <a:pt x="17780" y="341100"/>
                    <a:pt x="16510" y="400634"/>
                  </a:cubicBezTo>
                  <a:cubicBezTo>
                    <a:pt x="15240" y="461194"/>
                    <a:pt x="2540" y="1096565"/>
                    <a:pt x="2540" y="1157125"/>
                  </a:cubicBezTo>
                  <a:cubicBezTo>
                    <a:pt x="2540" y="1216659"/>
                    <a:pt x="1270" y="1276193"/>
                    <a:pt x="0" y="1335727"/>
                  </a:cubicBezTo>
                  <a:cubicBezTo>
                    <a:pt x="0" y="1350738"/>
                    <a:pt x="3810" y="1360898"/>
                    <a:pt x="15240" y="1365978"/>
                  </a:cubicBezTo>
                  <a:cubicBezTo>
                    <a:pt x="22860" y="1369788"/>
                    <a:pt x="31750" y="1372328"/>
                    <a:pt x="40640" y="1373598"/>
                  </a:cubicBezTo>
                  <a:cubicBezTo>
                    <a:pt x="122192" y="1378678"/>
                    <a:pt x="223109" y="1382488"/>
                    <a:pt x="324026" y="1387568"/>
                  </a:cubicBezTo>
                  <a:cubicBezTo>
                    <a:pt x="379796" y="1390108"/>
                    <a:pt x="435566" y="1395188"/>
                    <a:pt x="491336" y="1396458"/>
                  </a:cubicBezTo>
                  <a:cubicBezTo>
                    <a:pt x="584287" y="1398998"/>
                    <a:pt x="1620016" y="1400268"/>
                    <a:pt x="1712967" y="1401538"/>
                  </a:cubicBezTo>
                  <a:cubicBezTo>
                    <a:pt x="1726245" y="1401538"/>
                    <a:pt x="1739524" y="1401538"/>
                    <a:pt x="1752802" y="1401538"/>
                  </a:cubicBezTo>
                  <a:cubicBezTo>
                    <a:pt x="1816540" y="1401538"/>
                    <a:pt x="1882933" y="1400268"/>
                    <a:pt x="1946670" y="1400268"/>
                  </a:cubicBezTo>
                  <a:cubicBezTo>
                    <a:pt x="2021030" y="1400268"/>
                    <a:pt x="2092734" y="1401538"/>
                    <a:pt x="2167094" y="1401538"/>
                  </a:cubicBezTo>
                  <a:cubicBezTo>
                    <a:pt x="2275979" y="1401538"/>
                    <a:pt x="2387519" y="1401538"/>
                    <a:pt x="2496403" y="1401538"/>
                  </a:cubicBezTo>
                  <a:cubicBezTo>
                    <a:pt x="2597320" y="1401538"/>
                    <a:pt x="2698238" y="1402808"/>
                    <a:pt x="2799155" y="1404078"/>
                  </a:cubicBezTo>
                  <a:cubicBezTo>
                    <a:pt x="2844302" y="1404078"/>
                    <a:pt x="2892105" y="1405348"/>
                    <a:pt x="2937252" y="1405348"/>
                  </a:cubicBezTo>
                  <a:cubicBezTo>
                    <a:pt x="3083317" y="1404078"/>
                    <a:pt x="3226726" y="1397728"/>
                    <a:pt x="3366197" y="1397728"/>
                  </a:cubicBezTo>
                  <a:cubicBezTo>
                    <a:pt x="3370007" y="1397728"/>
                    <a:pt x="3375087" y="1395188"/>
                    <a:pt x="3378897" y="1392648"/>
                  </a:cubicBezTo>
                  <a:cubicBezTo>
                    <a:pt x="3383977" y="1388838"/>
                    <a:pt x="3386517" y="1382488"/>
                    <a:pt x="3389057" y="1379948"/>
                  </a:cubicBezTo>
                  <a:cubicBezTo>
                    <a:pt x="3390327" y="1328542"/>
                    <a:pt x="3391597" y="1285431"/>
                    <a:pt x="3392867" y="1242320"/>
                  </a:cubicBezTo>
                  <a:cubicBezTo>
                    <a:pt x="3394137" y="1175601"/>
                    <a:pt x="3404297" y="535099"/>
                    <a:pt x="3405567" y="468379"/>
                  </a:cubicBezTo>
                  <a:cubicBezTo>
                    <a:pt x="3405567" y="428348"/>
                    <a:pt x="3406837" y="388317"/>
                    <a:pt x="3408107" y="348285"/>
                  </a:cubicBezTo>
                  <a:cubicBezTo>
                    <a:pt x="3409377" y="305175"/>
                    <a:pt x="3410647" y="262064"/>
                    <a:pt x="3413187" y="218953"/>
                  </a:cubicBezTo>
                  <a:cubicBezTo>
                    <a:pt x="3414457" y="193292"/>
                    <a:pt x="3414457" y="166604"/>
                    <a:pt x="3419537" y="140943"/>
                  </a:cubicBezTo>
                  <a:cubicBezTo>
                    <a:pt x="3424617" y="110150"/>
                    <a:pt x="3427157" y="80383"/>
                    <a:pt x="3425887" y="44450"/>
                  </a:cubicBezTo>
                  <a:cubicBezTo>
                    <a:pt x="3425887" y="38100"/>
                    <a:pt x="3422077" y="30480"/>
                    <a:pt x="3415727" y="2794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997756" y="3927532"/>
            <a:ext cx="1035424" cy="1050707"/>
            <a:chOff x="0" y="0"/>
            <a:chExt cx="1380566" cy="14009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0566" cy="1400943"/>
            </a:xfrm>
            <a:custGeom>
              <a:avLst/>
              <a:gdLst/>
              <a:ahLst/>
              <a:cxnLst/>
              <a:rect r="r" b="b" t="t" l="l"/>
              <a:pathLst>
                <a:path h="1400943" w="1380566">
                  <a:moveTo>
                    <a:pt x="0" y="0"/>
                  </a:moveTo>
                  <a:lnTo>
                    <a:pt x="1380566" y="0"/>
                  </a:lnTo>
                  <a:lnTo>
                    <a:pt x="1380566" y="1400943"/>
                  </a:lnTo>
                  <a:lnTo>
                    <a:pt x="0" y="1400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28693" y="318926"/>
              <a:ext cx="894043" cy="918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96"/>
                </a:lnSpc>
              </a:pPr>
              <a:r>
                <a:rPr lang="en-US" b="true" sz="5096" spc="-50">
                  <a:solidFill>
                    <a:srgbClr val="FFFFFF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97756" y="5924699"/>
            <a:ext cx="1035424" cy="1050707"/>
            <a:chOff x="0" y="0"/>
            <a:chExt cx="1380566" cy="14009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0566" cy="1400943"/>
            </a:xfrm>
            <a:custGeom>
              <a:avLst/>
              <a:gdLst/>
              <a:ahLst/>
              <a:cxnLst/>
              <a:rect r="r" b="b" t="t" l="l"/>
              <a:pathLst>
                <a:path h="1400943" w="1380566">
                  <a:moveTo>
                    <a:pt x="0" y="0"/>
                  </a:moveTo>
                  <a:lnTo>
                    <a:pt x="1380566" y="0"/>
                  </a:lnTo>
                  <a:lnTo>
                    <a:pt x="1380566" y="1400943"/>
                  </a:lnTo>
                  <a:lnTo>
                    <a:pt x="0" y="1400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28693" y="318926"/>
              <a:ext cx="894043" cy="918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96"/>
                </a:lnSpc>
              </a:pPr>
              <a:r>
                <a:rPr lang="en-US" b="true" sz="5096" spc="-50">
                  <a:solidFill>
                    <a:srgbClr val="FFFFFF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2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0">
            <a:off x="14636284" y="1937314"/>
            <a:ext cx="1223079" cy="1990218"/>
          </a:xfrm>
          <a:custGeom>
            <a:avLst/>
            <a:gdLst/>
            <a:ahLst/>
            <a:cxnLst/>
            <a:rect r="r" b="b" t="t" l="l"/>
            <a:pathLst>
              <a:path h="1990218" w="1223079">
                <a:moveTo>
                  <a:pt x="1223080" y="0"/>
                </a:moveTo>
                <a:lnTo>
                  <a:pt x="0" y="0"/>
                </a:lnTo>
                <a:lnTo>
                  <a:pt x="0" y="1990218"/>
                </a:lnTo>
                <a:lnTo>
                  <a:pt x="1223080" y="1990218"/>
                </a:lnTo>
                <a:lnTo>
                  <a:pt x="122308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10628313" y="4035594"/>
          <a:ext cx="5903430" cy="4066293"/>
        </p:xfrm>
        <a:graphic>
          <a:graphicData uri="http://schemas.openxmlformats.org/drawingml/2006/table">
            <a:tbl>
              <a:tblPr/>
              <a:tblGrid>
                <a:gridCol w="2951715"/>
                <a:gridCol w="2951715"/>
              </a:tblGrid>
              <a:tr h="8132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Range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Predicted 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32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(146.999, 1397.25]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0.28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32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(1397.25, 2611.0]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0.30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32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(2611.0, 3704.0]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0,28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32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(3704.0, 4997.0]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0.28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3651716" y="2915977"/>
            <a:ext cx="10984569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b="true" sz="2200">
                <a:solidFill>
                  <a:srgbClr val="3E4A9D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Represents a biomarker of heart failure; high values often indicate cardiac stress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51716" y="1751697"/>
            <a:ext cx="10162278" cy="140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b="true" sz="3699" spc="-36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NT_proBNP </a:t>
            </a:r>
          </a:p>
          <a:p>
            <a:pPr algn="ctr">
              <a:lnSpc>
                <a:spcPts val="3699"/>
              </a:lnSpc>
            </a:pPr>
            <a:r>
              <a:rPr lang="en-US" b="true" sz="3699" spc="-36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(N-terminal pro b-type natriuretic peptide)</a:t>
            </a:r>
          </a:p>
          <a:p>
            <a:pPr algn="ctr" marL="0" indent="0" lvl="0">
              <a:lnSpc>
                <a:spcPts val="369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806595" y="4026069"/>
            <a:ext cx="5614401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The mid-range NT_proBNP (1397–2611) is associated with slightly higher readmission risk.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3806595" y="6540669"/>
            <a:ext cx="5614401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Risk decreases again at very high levels, possibly due to more careful clinical management.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57275"/>
            <a:ext cx="16230600" cy="8229600"/>
            <a:chOff x="0" y="0"/>
            <a:chExt cx="6851469" cy="3473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6852739" cy="3472714"/>
            </a:xfrm>
            <a:custGeom>
              <a:avLst/>
              <a:gdLst/>
              <a:ahLst/>
              <a:cxnLst/>
              <a:rect r="r" b="b" t="t" l="l"/>
              <a:pathLst>
                <a:path h="3472714" w="6852739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734046" y="3927532"/>
            <a:ext cx="6485984" cy="1508306"/>
            <a:chOff x="0" y="0"/>
            <a:chExt cx="3425887" cy="7966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1270"/>
              <a:ext cx="3427157" cy="795415"/>
            </a:xfrm>
            <a:custGeom>
              <a:avLst/>
              <a:gdLst/>
              <a:ahLst/>
              <a:cxnLst/>
              <a:rect r="r" b="b" t="t" l="l"/>
              <a:pathLst>
                <a:path h="795415" w="3427157">
                  <a:moveTo>
                    <a:pt x="3415727" y="27940"/>
                  </a:moveTo>
                  <a:cubicBezTo>
                    <a:pt x="3406837" y="24130"/>
                    <a:pt x="3397947" y="21590"/>
                    <a:pt x="3389057" y="21590"/>
                  </a:cubicBezTo>
                  <a:cubicBezTo>
                    <a:pt x="3362387" y="20320"/>
                    <a:pt x="3311709" y="20320"/>
                    <a:pt x="3255938" y="17780"/>
                  </a:cubicBezTo>
                  <a:cubicBezTo>
                    <a:pt x="3128464" y="12700"/>
                    <a:pt x="3003646" y="6350"/>
                    <a:pt x="2876171" y="3810"/>
                  </a:cubicBezTo>
                  <a:cubicBezTo>
                    <a:pt x="2772598" y="1270"/>
                    <a:pt x="2671681" y="3810"/>
                    <a:pt x="2568108" y="2540"/>
                  </a:cubicBezTo>
                  <a:cubicBezTo>
                    <a:pt x="2522960" y="2540"/>
                    <a:pt x="2477813" y="0"/>
                    <a:pt x="2432666" y="2540"/>
                  </a:cubicBezTo>
                  <a:cubicBezTo>
                    <a:pt x="2323782" y="10160"/>
                    <a:pt x="2214897" y="11430"/>
                    <a:pt x="2103357" y="8890"/>
                  </a:cubicBezTo>
                  <a:cubicBezTo>
                    <a:pt x="2047587" y="7620"/>
                    <a:pt x="1991817" y="7620"/>
                    <a:pt x="1936047" y="7620"/>
                  </a:cubicBezTo>
                  <a:cubicBezTo>
                    <a:pt x="1835129" y="7620"/>
                    <a:pt x="1734212" y="7620"/>
                    <a:pt x="1633295" y="6350"/>
                  </a:cubicBezTo>
                  <a:cubicBezTo>
                    <a:pt x="1527066" y="5080"/>
                    <a:pt x="480714" y="2540"/>
                    <a:pt x="377141" y="1270"/>
                  </a:cubicBezTo>
                  <a:cubicBezTo>
                    <a:pt x="292158" y="0"/>
                    <a:pt x="209830" y="1270"/>
                    <a:pt x="124848" y="1270"/>
                  </a:cubicBezTo>
                  <a:cubicBezTo>
                    <a:pt x="66422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87927"/>
                    <a:pt x="16510" y="118471"/>
                    <a:pt x="17780" y="148479"/>
                  </a:cubicBezTo>
                  <a:cubicBezTo>
                    <a:pt x="19050" y="179023"/>
                    <a:pt x="17780" y="209567"/>
                    <a:pt x="16510" y="240647"/>
                  </a:cubicBezTo>
                  <a:cubicBezTo>
                    <a:pt x="15240" y="272262"/>
                    <a:pt x="2540" y="603958"/>
                    <a:pt x="2540" y="635574"/>
                  </a:cubicBezTo>
                  <a:cubicBezTo>
                    <a:pt x="2540" y="666654"/>
                    <a:pt x="1270" y="697733"/>
                    <a:pt x="0" y="728813"/>
                  </a:cubicBezTo>
                  <a:cubicBezTo>
                    <a:pt x="0" y="740805"/>
                    <a:pt x="3810" y="750965"/>
                    <a:pt x="15240" y="756045"/>
                  </a:cubicBezTo>
                  <a:cubicBezTo>
                    <a:pt x="22860" y="759855"/>
                    <a:pt x="31750" y="762395"/>
                    <a:pt x="40640" y="763665"/>
                  </a:cubicBezTo>
                  <a:cubicBezTo>
                    <a:pt x="122192" y="768745"/>
                    <a:pt x="223109" y="772555"/>
                    <a:pt x="324026" y="777635"/>
                  </a:cubicBezTo>
                  <a:cubicBezTo>
                    <a:pt x="379796" y="780175"/>
                    <a:pt x="435566" y="785255"/>
                    <a:pt x="491336" y="786525"/>
                  </a:cubicBezTo>
                  <a:cubicBezTo>
                    <a:pt x="584287" y="789065"/>
                    <a:pt x="1620016" y="790335"/>
                    <a:pt x="1712967" y="791605"/>
                  </a:cubicBezTo>
                  <a:cubicBezTo>
                    <a:pt x="1726245" y="791605"/>
                    <a:pt x="1739524" y="791605"/>
                    <a:pt x="1752802" y="791605"/>
                  </a:cubicBezTo>
                  <a:cubicBezTo>
                    <a:pt x="1816540" y="791605"/>
                    <a:pt x="1882933" y="790335"/>
                    <a:pt x="1946670" y="790335"/>
                  </a:cubicBezTo>
                  <a:cubicBezTo>
                    <a:pt x="2021030" y="790335"/>
                    <a:pt x="2092734" y="791605"/>
                    <a:pt x="2167094" y="791605"/>
                  </a:cubicBezTo>
                  <a:cubicBezTo>
                    <a:pt x="2275979" y="791605"/>
                    <a:pt x="2387519" y="791605"/>
                    <a:pt x="2496403" y="791605"/>
                  </a:cubicBezTo>
                  <a:cubicBezTo>
                    <a:pt x="2597320" y="791605"/>
                    <a:pt x="2698238" y="792875"/>
                    <a:pt x="2799155" y="794145"/>
                  </a:cubicBezTo>
                  <a:cubicBezTo>
                    <a:pt x="2844302" y="794145"/>
                    <a:pt x="2892105" y="795415"/>
                    <a:pt x="2937252" y="795415"/>
                  </a:cubicBezTo>
                  <a:cubicBezTo>
                    <a:pt x="3083317" y="794145"/>
                    <a:pt x="3226726" y="787795"/>
                    <a:pt x="3366197" y="787795"/>
                  </a:cubicBezTo>
                  <a:cubicBezTo>
                    <a:pt x="3370007" y="787795"/>
                    <a:pt x="3375087" y="785255"/>
                    <a:pt x="3378897" y="782715"/>
                  </a:cubicBezTo>
                  <a:cubicBezTo>
                    <a:pt x="3383977" y="778905"/>
                    <a:pt x="3386517" y="772555"/>
                    <a:pt x="3389057" y="770015"/>
                  </a:cubicBezTo>
                  <a:cubicBezTo>
                    <a:pt x="3390327" y="725062"/>
                    <a:pt x="3391597" y="702556"/>
                    <a:pt x="3392867" y="680050"/>
                  </a:cubicBezTo>
                  <a:cubicBezTo>
                    <a:pt x="3394137" y="645219"/>
                    <a:pt x="3404297" y="310844"/>
                    <a:pt x="3405567" y="276013"/>
                  </a:cubicBezTo>
                  <a:cubicBezTo>
                    <a:pt x="3405567" y="255115"/>
                    <a:pt x="3406837" y="234216"/>
                    <a:pt x="3408107" y="213318"/>
                  </a:cubicBezTo>
                  <a:cubicBezTo>
                    <a:pt x="3409377" y="190812"/>
                    <a:pt x="3410647" y="168306"/>
                    <a:pt x="3413187" y="145800"/>
                  </a:cubicBezTo>
                  <a:cubicBezTo>
                    <a:pt x="3414457" y="132404"/>
                    <a:pt x="3414457" y="118471"/>
                    <a:pt x="3419537" y="105075"/>
                  </a:cubicBezTo>
                  <a:cubicBezTo>
                    <a:pt x="3424617" y="88999"/>
                    <a:pt x="3427157" y="73459"/>
                    <a:pt x="3425887" y="44450"/>
                  </a:cubicBezTo>
                  <a:cubicBezTo>
                    <a:pt x="3425887" y="38100"/>
                    <a:pt x="3422077" y="30480"/>
                    <a:pt x="3415727" y="2794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734046" y="5969805"/>
            <a:ext cx="6485984" cy="2714345"/>
            <a:chOff x="0" y="0"/>
            <a:chExt cx="3425887" cy="14337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-1270"/>
              <a:ext cx="3427157" cy="1432443"/>
            </a:xfrm>
            <a:custGeom>
              <a:avLst/>
              <a:gdLst/>
              <a:ahLst/>
              <a:cxnLst/>
              <a:rect r="r" b="b" t="t" l="l"/>
              <a:pathLst>
                <a:path h="1432443" w="3427157">
                  <a:moveTo>
                    <a:pt x="3415727" y="27940"/>
                  </a:moveTo>
                  <a:cubicBezTo>
                    <a:pt x="3406837" y="24130"/>
                    <a:pt x="3397947" y="21590"/>
                    <a:pt x="3389057" y="21590"/>
                  </a:cubicBezTo>
                  <a:cubicBezTo>
                    <a:pt x="3362387" y="20320"/>
                    <a:pt x="3311709" y="20320"/>
                    <a:pt x="3255938" y="17780"/>
                  </a:cubicBezTo>
                  <a:cubicBezTo>
                    <a:pt x="3128464" y="12700"/>
                    <a:pt x="3003646" y="6350"/>
                    <a:pt x="2876171" y="3810"/>
                  </a:cubicBezTo>
                  <a:cubicBezTo>
                    <a:pt x="2772598" y="1270"/>
                    <a:pt x="2671681" y="3810"/>
                    <a:pt x="2568108" y="2540"/>
                  </a:cubicBezTo>
                  <a:cubicBezTo>
                    <a:pt x="2522960" y="2540"/>
                    <a:pt x="2477813" y="0"/>
                    <a:pt x="2432666" y="2540"/>
                  </a:cubicBezTo>
                  <a:cubicBezTo>
                    <a:pt x="2323782" y="10160"/>
                    <a:pt x="2214897" y="11430"/>
                    <a:pt x="2103357" y="8890"/>
                  </a:cubicBezTo>
                  <a:cubicBezTo>
                    <a:pt x="2047587" y="7620"/>
                    <a:pt x="1991817" y="7620"/>
                    <a:pt x="1936047" y="7620"/>
                  </a:cubicBezTo>
                  <a:cubicBezTo>
                    <a:pt x="1835129" y="7620"/>
                    <a:pt x="1734212" y="7620"/>
                    <a:pt x="1633295" y="6350"/>
                  </a:cubicBezTo>
                  <a:cubicBezTo>
                    <a:pt x="1527066" y="5080"/>
                    <a:pt x="480714" y="2540"/>
                    <a:pt x="377141" y="1270"/>
                  </a:cubicBezTo>
                  <a:cubicBezTo>
                    <a:pt x="292158" y="0"/>
                    <a:pt x="209830" y="1270"/>
                    <a:pt x="124848" y="1270"/>
                  </a:cubicBezTo>
                  <a:cubicBezTo>
                    <a:pt x="66422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08993"/>
                    <a:pt x="16510" y="168742"/>
                    <a:pt x="17780" y="227444"/>
                  </a:cubicBezTo>
                  <a:cubicBezTo>
                    <a:pt x="19050" y="287194"/>
                    <a:pt x="17780" y="346943"/>
                    <a:pt x="16510" y="407741"/>
                  </a:cubicBezTo>
                  <a:cubicBezTo>
                    <a:pt x="15240" y="469587"/>
                    <a:pt x="2540" y="1118448"/>
                    <a:pt x="2540" y="1180294"/>
                  </a:cubicBezTo>
                  <a:cubicBezTo>
                    <a:pt x="2540" y="1241092"/>
                    <a:pt x="1270" y="1301890"/>
                    <a:pt x="0" y="1362688"/>
                  </a:cubicBezTo>
                  <a:cubicBezTo>
                    <a:pt x="0" y="1377833"/>
                    <a:pt x="3810" y="1387993"/>
                    <a:pt x="15240" y="1393073"/>
                  </a:cubicBezTo>
                  <a:cubicBezTo>
                    <a:pt x="22860" y="1396883"/>
                    <a:pt x="31750" y="1399423"/>
                    <a:pt x="40640" y="1400693"/>
                  </a:cubicBezTo>
                  <a:cubicBezTo>
                    <a:pt x="122192" y="1405773"/>
                    <a:pt x="223109" y="1409583"/>
                    <a:pt x="324026" y="1414663"/>
                  </a:cubicBezTo>
                  <a:cubicBezTo>
                    <a:pt x="379796" y="1417203"/>
                    <a:pt x="435566" y="1422283"/>
                    <a:pt x="491336" y="1423553"/>
                  </a:cubicBezTo>
                  <a:cubicBezTo>
                    <a:pt x="584287" y="1426093"/>
                    <a:pt x="1620016" y="1427363"/>
                    <a:pt x="1712967" y="1428633"/>
                  </a:cubicBezTo>
                  <a:cubicBezTo>
                    <a:pt x="1726245" y="1428633"/>
                    <a:pt x="1739524" y="1428633"/>
                    <a:pt x="1752802" y="1428633"/>
                  </a:cubicBezTo>
                  <a:cubicBezTo>
                    <a:pt x="1816540" y="1428633"/>
                    <a:pt x="1882933" y="1427363"/>
                    <a:pt x="1946670" y="1427363"/>
                  </a:cubicBezTo>
                  <a:cubicBezTo>
                    <a:pt x="2021030" y="1427363"/>
                    <a:pt x="2092734" y="1428633"/>
                    <a:pt x="2167094" y="1428633"/>
                  </a:cubicBezTo>
                  <a:cubicBezTo>
                    <a:pt x="2275979" y="1428633"/>
                    <a:pt x="2387519" y="1428633"/>
                    <a:pt x="2496403" y="1428633"/>
                  </a:cubicBezTo>
                  <a:cubicBezTo>
                    <a:pt x="2597320" y="1428633"/>
                    <a:pt x="2698238" y="1429903"/>
                    <a:pt x="2799155" y="1431173"/>
                  </a:cubicBezTo>
                  <a:cubicBezTo>
                    <a:pt x="2844302" y="1431173"/>
                    <a:pt x="2892105" y="1432443"/>
                    <a:pt x="2937252" y="1432443"/>
                  </a:cubicBezTo>
                  <a:cubicBezTo>
                    <a:pt x="3083317" y="1431173"/>
                    <a:pt x="3226726" y="1424823"/>
                    <a:pt x="3366197" y="1424823"/>
                  </a:cubicBezTo>
                  <a:cubicBezTo>
                    <a:pt x="3370007" y="1424823"/>
                    <a:pt x="3375087" y="1422283"/>
                    <a:pt x="3378897" y="1419743"/>
                  </a:cubicBezTo>
                  <a:cubicBezTo>
                    <a:pt x="3383977" y="1415933"/>
                    <a:pt x="3386517" y="1409583"/>
                    <a:pt x="3389057" y="1407043"/>
                  </a:cubicBezTo>
                  <a:cubicBezTo>
                    <a:pt x="3390327" y="1355350"/>
                    <a:pt x="3391597" y="1311324"/>
                    <a:pt x="3392867" y="1267298"/>
                  </a:cubicBezTo>
                  <a:cubicBezTo>
                    <a:pt x="3394137" y="1199162"/>
                    <a:pt x="3404297" y="545060"/>
                    <a:pt x="3405567" y="476925"/>
                  </a:cubicBezTo>
                  <a:cubicBezTo>
                    <a:pt x="3405567" y="436044"/>
                    <a:pt x="3406837" y="395162"/>
                    <a:pt x="3408107" y="354281"/>
                  </a:cubicBezTo>
                  <a:cubicBezTo>
                    <a:pt x="3409377" y="310255"/>
                    <a:pt x="3410647" y="266229"/>
                    <a:pt x="3413187" y="222203"/>
                  </a:cubicBezTo>
                  <a:cubicBezTo>
                    <a:pt x="3414457" y="195997"/>
                    <a:pt x="3414457" y="168742"/>
                    <a:pt x="3419537" y="142536"/>
                  </a:cubicBezTo>
                  <a:cubicBezTo>
                    <a:pt x="3424617" y="111089"/>
                    <a:pt x="3427157" y="80690"/>
                    <a:pt x="3425887" y="44450"/>
                  </a:cubicBezTo>
                  <a:cubicBezTo>
                    <a:pt x="3425887" y="38100"/>
                    <a:pt x="3422077" y="30480"/>
                    <a:pt x="3415727" y="2794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449136" y="3927532"/>
            <a:ext cx="1035424" cy="1050740"/>
            <a:chOff x="0" y="0"/>
            <a:chExt cx="1380566" cy="14009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0566" cy="1400987"/>
            </a:xfrm>
            <a:custGeom>
              <a:avLst/>
              <a:gdLst/>
              <a:ahLst/>
              <a:cxnLst/>
              <a:rect r="r" b="b" t="t" l="l"/>
              <a:pathLst>
                <a:path h="1400987" w="1380566">
                  <a:moveTo>
                    <a:pt x="0" y="0"/>
                  </a:moveTo>
                  <a:lnTo>
                    <a:pt x="1380566" y="0"/>
                  </a:lnTo>
                  <a:lnTo>
                    <a:pt x="1380566" y="1400987"/>
                  </a:lnTo>
                  <a:lnTo>
                    <a:pt x="0" y="1400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" t="0" r="-1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28693" y="318926"/>
              <a:ext cx="894043" cy="918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96"/>
                </a:lnSpc>
              </a:pPr>
              <a:r>
                <a:rPr lang="en-US" b="true" sz="5096" spc="-50">
                  <a:solidFill>
                    <a:srgbClr val="FFFFFF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449136" y="5924699"/>
            <a:ext cx="1035424" cy="1050740"/>
            <a:chOff x="0" y="0"/>
            <a:chExt cx="1380566" cy="14009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0566" cy="1400987"/>
            </a:xfrm>
            <a:custGeom>
              <a:avLst/>
              <a:gdLst/>
              <a:ahLst/>
              <a:cxnLst/>
              <a:rect r="r" b="b" t="t" l="l"/>
              <a:pathLst>
                <a:path h="1400987" w="1380566">
                  <a:moveTo>
                    <a:pt x="0" y="0"/>
                  </a:moveTo>
                  <a:lnTo>
                    <a:pt x="1380566" y="0"/>
                  </a:lnTo>
                  <a:lnTo>
                    <a:pt x="1380566" y="1400987"/>
                  </a:lnTo>
                  <a:lnTo>
                    <a:pt x="0" y="1400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" t="0" r="-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28693" y="318926"/>
              <a:ext cx="894043" cy="918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96"/>
                </a:lnSpc>
              </a:pPr>
              <a:r>
                <a:rPr lang="en-US" b="true" sz="5096" spc="-50">
                  <a:solidFill>
                    <a:srgbClr val="FFFFFF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4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52541" y="3212406"/>
            <a:ext cx="7048945" cy="5471743"/>
          </a:xfrm>
          <a:custGeom>
            <a:avLst/>
            <a:gdLst/>
            <a:ahLst/>
            <a:cxnLst/>
            <a:rect r="r" b="b" t="t" l="l"/>
            <a:pathLst>
              <a:path h="5471743" w="7048945">
                <a:moveTo>
                  <a:pt x="0" y="0"/>
                </a:moveTo>
                <a:lnTo>
                  <a:pt x="7048945" y="0"/>
                </a:lnTo>
                <a:lnTo>
                  <a:pt x="7048945" y="5471744"/>
                </a:lnTo>
                <a:lnTo>
                  <a:pt x="0" y="54717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169837" y="4196417"/>
            <a:ext cx="561440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Orange dots (Readmitted): Spread fairly evenly, but with some concentration at high NT_proBNP and low Creatinine (&lt;1.0).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69837" y="6236225"/>
            <a:ext cx="5614401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Creatinine alone may not be a strong predictor unless combined with other features. Patients with high NT_proBNP and low Creatinine (&lt;1.0) may have elevated risk, possibly due to misinterpreted kidney status (low creatinine in frail patients may not reflect healthy function).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651716" y="2636993"/>
            <a:ext cx="10984569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b="true" sz="2200">
                <a:solidFill>
                  <a:srgbClr val="3E4A9D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Reflects kidney function; high values can indicate renal impairment.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51716" y="1774687"/>
            <a:ext cx="10162278" cy="52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99"/>
              </a:lnSpc>
            </a:pPr>
            <a:r>
              <a:rPr lang="en-US" b="true" sz="3999" spc="-39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Creatinine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22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57275"/>
            <a:ext cx="16230600" cy="8229600"/>
            <a:chOff x="0" y="0"/>
            <a:chExt cx="6851469" cy="3473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6852739" cy="3472714"/>
            </a:xfrm>
            <a:custGeom>
              <a:avLst/>
              <a:gdLst/>
              <a:ahLst/>
              <a:cxnLst/>
              <a:rect r="r" b="b" t="t" l="l"/>
              <a:pathLst>
                <a:path h="3472714" w="6852739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628093" y="2319800"/>
            <a:ext cx="1550497" cy="1319332"/>
          </a:xfrm>
          <a:custGeom>
            <a:avLst/>
            <a:gdLst/>
            <a:ahLst/>
            <a:cxnLst/>
            <a:rect r="r" b="b" t="t" l="l"/>
            <a:pathLst>
              <a:path h="1319332" w="1550497">
                <a:moveTo>
                  <a:pt x="0" y="0"/>
                </a:moveTo>
                <a:lnTo>
                  <a:pt x="1550498" y="0"/>
                </a:lnTo>
                <a:lnTo>
                  <a:pt x="1550498" y="1319333"/>
                </a:lnTo>
                <a:lnTo>
                  <a:pt x="0" y="1319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57297" y="2319800"/>
            <a:ext cx="8088817" cy="5945281"/>
          </a:xfrm>
          <a:custGeom>
            <a:avLst/>
            <a:gdLst/>
            <a:ahLst/>
            <a:cxnLst/>
            <a:rect r="r" b="b" t="t" l="l"/>
            <a:pathLst>
              <a:path h="5945281" w="8088817">
                <a:moveTo>
                  <a:pt x="0" y="0"/>
                </a:moveTo>
                <a:lnTo>
                  <a:pt x="8088818" y="0"/>
                </a:lnTo>
                <a:lnTo>
                  <a:pt x="8088818" y="5945281"/>
                </a:lnTo>
                <a:lnTo>
                  <a:pt x="0" y="59452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61933" y="3844125"/>
            <a:ext cx="6316657" cy="507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Partial dependence increases s</a:t>
            </a:r>
            <a:r>
              <a:rPr lang="en-US" sz="2400" u="none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li</a:t>
            </a:r>
            <a:r>
              <a:rPr lang="en-US" sz="2400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ghtly from age 40 to ~65–70.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Then begins to decrease after 75+, with a steep drop beyond age</a:t>
            </a:r>
            <a:r>
              <a:rPr lang="en-US" sz="2400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 85.</a:t>
            </a:r>
          </a:p>
          <a:p>
            <a:pPr algn="l">
              <a:lnSpc>
                <a:spcPts val="2879"/>
              </a:lnSpc>
            </a:pP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Middle-aged and ea</a:t>
            </a:r>
            <a:r>
              <a:rPr lang="en-US" b="true" sz="2400" u="non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r</a:t>
            </a: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ly</a:t>
            </a:r>
            <a:r>
              <a:rPr lang="en-US" b="true" sz="2400" u="non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 </a:t>
            </a: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elderly p</a:t>
            </a:r>
            <a:r>
              <a:rPr lang="en-US" b="true" sz="2400" u="non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a</a:t>
            </a: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t</a:t>
            </a:r>
            <a:r>
              <a:rPr lang="en-US" b="true" sz="2400" u="non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i</a:t>
            </a: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e</a:t>
            </a:r>
            <a:r>
              <a:rPr lang="en-US" b="true" sz="2400" u="non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n</a:t>
            </a: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ts</a:t>
            </a:r>
            <a:r>
              <a:rPr lang="en-US" b="true" sz="2400" u="non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 </a:t>
            </a: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(~60–75) are ass</a:t>
            </a:r>
            <a:r>
              <a:rPr lang="en-US" b="true" sz="2400" u="non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o</a:t>
            </a: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ciated with higher read</a:t>
            </a:r>
            <a:r>
              <a:rPr lang="en-US" b="true" sz="2400" u="non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m</a:t>
            </a: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issi</a:t>
            </a:r>
            <a:r>
              <a:rPr lang="en-US" b="true" sz="2400" u="non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on</a:t>
            </a: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 risk.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Pati</a:t>
            </a:r>
            <a:r>
              <a:rPr lang="en-US" b="true" sz="2400" u="non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ents</a:t>
            </a: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 aged 85+ may have lower readmission rates, potentially due to:</a:t>
            </a:r>
          </a:p>
          <a:p>
            <a:pPr algn="l" marL="1036320" indent="-345440" lvl="2">
              <a:lnSpc>
                <a:spcPts val="2879"/>
              </a:lnSpc>
              <a:buFont typeface="Arial"/>
              <a:buChar char="⚬"/>
            </a:pP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Higher in-hospital mortality (not captured as readmission),</a:t>
            </a:r>
          </a:p>
          <a:p>
            <a:pPr algn="l" marL="1036320" indent="-345440" lvl="2">
              <a:lnSpc>
                <a:spcPts val="2879"/>
              </a:lnSpc>
              <a:buFont typeface="Arial"/>
              <a:buChar char="⚬"/>
            </a:pP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Or more palliative-oriented care.</a:t>
            </a: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861933" y="2576975"/>
            <a:ext cx="3654639" cy="115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63"/>
              </a:lnSpc>
            </a:pPr>
            <a:r>
              <a:rPr lang="en-US" b="true" sz="9300" spc="-93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Age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736716"/>
            <a:ext cx="4865348" cy="176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39"/>
              </a:lnSpc>
            </a:pPr>
            <a:r>
              <a:rPr lang="en-US" b="true" sz="7406" spc="-74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Decision</a:t>
            </a:r>
          </a:p>
          <a:p>
            <a:pPr algn="l" marL="0" indent="0" lvl="0">
              <a:lnSpc>
                <a:spcPts val="6739"/>
              </a:lnSpc>
            </a:pPr>
            <a:r>
              <a:rPr lang="en-US" b="true" sz="7406" spc="-74" u="none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Tree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6821732">
            <a:off x="5440455" y="2477928"/>
            <a:ext cx="1838912" cy="1688456"/>
          </a:xfrm>
          <a:custGeom>
            <a:avLst/>
            <a:gdLst/>
            <a:ahLst/>
            <a:cxnLst/>
            <a:rect r="r" b="b" t="t" l="l"/>
            <a:pathLst>
              <a:path h="1688456" w="1838912">
                <a:moveTo>
                  <a:pt x="1838913" y="0"/>
                </a:moveTo>
                <a:lnTo>
                  <a:pt x="0" y="0"/>
                </a:lnTo>
                <a:lnTo>
                  <a:pt x="0" y="1688455"/>
                </a:lnTo>
                <a:lnTo>
                  <a:pt x="1838913" y="1688455"/>
                </a:lnTo>
                <a:lnTo>
                  <a:pt x="18389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02474" y="2424303"/>
            <a:ext cx="10465087" cy="5101730"/>
          </a:xfrm>
          <a:custGeom>
            <a:avLst/>
            <a:gdLst/>
            <a:ahLst/>
            <a:cxnLst/>
            <a:rect r="r" b="b" t="t" l="l"/>
            <a:pathLst>
              <a:path h="5101730" w="10465087">
                <a:moveTo>
                  <a:pt x="0" y="0"/>
                </a:moveTo>
                <a:lnTo>
                  <a:pt x="10465087" y="0"/>
                </a:lnTo>
                <a:lnTo>
                  <a:pt x="10465087" y="5101730"/>
                </a:lnTo>
                <a:lnTo>
                  <a:pt x="0" y="51017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133975"/>
            <a:ext cx="6339907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Low Hemoglobin &amp; Age ≤ 76.5 → Higher readmission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Very low Age (&lt;= 51.5) may signal readmission despite low gini globally</a:t>
            </a:r>
          </a:p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Possibly comorbidity in younger patients?</a:t>
            </a:r>
          </a:p>
          <a:p>
            <a:pPr algn="l">
              <a:lnSpc>
                <a:spcPts val="287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A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071076"/>
            <a:ext cx="16230600" cy="6215799"/>
            <a:chOff x="0" y="0"/>
            <a:chExt cx="6851469" cy="2623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1270"/>
              <a:ext cx="6852739" cy="2622623"/>
            </a:xfrm>
            <a:custGeom>
              <a:avLst/>
              <a:gdLst/>
              <a:ahLst/>
              <a:cxnLst/>
              <a:rect r="r" b="b" t="t" l="l"/>
              <a:pathLst>
                <a:path h="2622623" w="6852739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48350"/>
                    <a:pt x="16510" y="262666"/>
                    <a:pt x="17780" y="374976"/>
                  </a:cubicBezTo>
                  <a:cubicBezTo>
                    <a:pt x="19050" y="489292"/>
                    <a:pt x="17780" y="603608"/>
                    <a:pt x="16510" y="719929"/>
                  </a:cubicBezTo>
                  <a:cubicBezTo>
                    <a:pt x="15240" y="838256"/>
                    <a:pt x="2540" y="2079686"/>
                    <a:pt x="2540" y="2198012"/>
                  </a:cubicBezTo>
                  <a:cubicBezTo>
                    <a:pt x="2540" y="2314333"/>
                    <a:pt x="1270" y="2430655"/>
                    <a:pt x="0" y="2546976"/>
                  </a:cubicBezTo>
                  <a:cubicBezTo>
                    <a:pt x="0" y="2568013"/>
                    <a:pt x="3810" y="2578173"/>
                    <a:pt x="15240" y="2583253"/>
                  </a:cubicBezTo>
                  <a:cubicBezTo>
                    <a:pt x="22860" y="2587063"/>
                    <a:pt x="31750" y="2589603"/>
                    <a:pt x="40640" y="2590873"/>
                  </a:cubicBezTo>
                  <a:cubicBezTo>
                    <a:pt x="188388" y="2595953"/>
                    <a:pt x="394007" y="2599763"/>
                    <a:pt x="599625" y="2604843"/>
                  </a:cubicBezTo>
                  <a:cubicBezTo>
                    <a:pt x="713257" y="2607383"/>
                    <a:pt x="826888" y="2612463"/>
                    <a:pt x="940520" y="2613733"/>
                  </a:cubicBezTo>
                  <a:cubicBezTo>
                    <a:pt x="1129906" y="2616273"/>
                    <a:pt x="3240205" y="2617543"/>
                    <a:pt x="3429591" y="2618813"/>
                  </a:cubicBezTo>
                  <a:cubicBezTo>
                    <a:pt x="3456646" y="2618813"/>
                    <a:pt x="3483701" y="2618813"/>
                    <a:pt x="3510756" y="2618813"/>
                  </a:cubicBezTo>
                  <a:cubicBezTo>
                    <a:pt x="3640621" y="2618813"/>
                    <a:pt x="3775897" y="2617543"/>
                    <a:pt x="3905761" y="2617543"/>
                  </a:cubicBezTo>
                  <a:cubicBezTo>
                    <a:pt x="4057270" y="2617543"/>
                    <a:pt x="4203367" y="2618813"/>
                    <a:pt x="4354876" y="2618813"/>
                  </a:cubicBezTo>
                  <a:cubicBezTo>
                    <a:pt x="4576728" y="2618813"/>
                    <a:pt x="4803991" y="2618813"/>
                    <a:pt x="5025843" y="2618813"/>
                  </a:cubicBezTo>
                  <a:cubicBezTo>
                    <a:pt x="5231462" y="2618813"/>
                    <a:pt x="5437081" y="2620083"/>
                    <a:pt x="5642700" y="2621353"/>
                  </a:cubicBezTo>
                  <a:cubicBezTo>
                    <a:pt x="5734687" y="2621353"/>
                    <a:pt x="5832086" y="2622623"/>
                    <a:pt x="5924073" y="2622623"/>
                  </a:cubicBezTo>
                  <a:cubicBezTo>
                    <a:pt x="6221680" y="2621353"/>
                    <a:pt x="6513874" y="2615003"/>
                    <a:pt x="6791779" y="2615003"/>
                  </a:cubicBezTo>
                  <a:cubicBezTo>
                    <a:pt x="6795589" y="2615003"/>
                    <a:pt x="6800669" y="2612463"/>
                    <a:pt x="6804479" y="2609923"/>
                  </a:cubicBezTo>
                  <a:cubicBezTo>
                    <a:pt x="6809559" y="2606113"/>
                    <a:pt x="6812099" y="2599763"/>
                    <a:pt x="6814639" y="2597223"/>
                  </a:cubicBezTo>
                  <a:cubicBezTo>
                    <a:pt x="6815909" y="2532937"/>
                    <a:pt x="6817179" y="2448705"/>
                    <a:pt x="6818449" y="2364472"/>
                  </a:cubicBezTo>
                  <a:cubicBezTo>
                    <a:pt x="6819719" y="2234112"/>
                    <a:pt x="6829879" y="982655"/>
                    <a:pt x="6831149" y="852295"/>
                  </a:cubicBezTo>
                  <a:cubicBezTo>
                    <a:pt x="6831149" y="774079"/>
                    <a:pt x="6832419" y="695863"/>
                    <a:pt x="6833689" y="617646"/>
                  </a:cubicBezTo>
                  <a:cubicBezTo>
                    <a:pt x="6834959" y="533414"/>
                    <a:pt x="6836229" y="449181"/>
                    <a:pt x="6838769" y="364948"/>
                  </a:cubicBezTo>
                  <a:cubicBezTo>
                    <a:pt x="6840039" y="314810"/>
                    <a:pt x="6840039" y="262666"/>
                    <a:pt x="6845119" y="212527"/>
                  </a:cubicBezTo>
                  <a:cubicBezTo>
                    <a:pt x="6850199" y="152361"/>
                    <a:pt x="6852739" y="9420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85042" y="1038128"/>
            <a:ext cx="11141828" cy="116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89"/>
              </a:lnSpc>
            </a:pPr>
            <a:r>
              <a:rPr lang="en-US" b="true" sz="8789" spc="-87">
                <a:solidFill>
                  <a:srgbClr val="FFFFFF"/>
                </a:solidFill>
                <a:latin typeface="Bogart Bold"/>
                <a:ea typeface="Bogart Bold"/>
                <a:cs typeface="Bogart Bold"/>
                <a:sym typeface="Bogart Bold"/>
              </a:rPr>
              <a:t>Recommendations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036922" y="1378450"/>
            <a:ext cx="1298576" cy="389020"/>
          </a:xfrm>
          <a:custGeom>
            <a:avLst/>
            <a:gdLst/>
            <a:ahLst/>
            <a:cxnLst/>
            <a:rect r="r" b="b" t="t" l="l"/>
            <a:pathLst>
              <a:path h="389020" w="1298576">
                <a:moveTo>
                  <a:pt x="0" y="0"/>
                </a:moveTo>
                <a:lnTo>
                  <a:pt x="1298576" y="0"/>
                </a:lnTo>
                <a:lnTo>
                  <a:pt x="1298576" y="389020"/>
                </a:lnTo>
                <a:lnTo>
                  <a:pt x="0" y="389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01231" r="-1573" b="-185668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92604">
            <a:off x="14700038" y="1361033"/>
            <a:ext cx="1298576" cy="389020"/>
          </a:xfrm>
          <a:custGeom>
            <a:avLst/>
            <a:gdLst/>
            <a:ahLst/>
            <a:cxnLst/>
            <a:rect r="r" b="b" t="t" l="l"/>
            <a:pathLst>
              <a:path h="389020" w="1298576">
                <a:moveTo>
                  <a:pt x="1298576" y="389019"/>
                </a:moveTo>
                <a:lnTo>
                  <a:pt x="0" y="389019"/>
                </a:lnTo>
                <a:lnTo>
                  <a:pt x="0" y="0"/>
                </a:lnTo>
                <a:lnTo>
                  <a:pt x="1298576" y="0"/>
                </a:lnTo>
                <a:lnTo>
                  <a:pt x="1298576" y="38901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01231" r="-1573" b="-18566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01282" y="2186570"/>
            <a:ext cx="9709348" cy="50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9"/>
              </a:lnSpc>
            </a:pPr>
            <a:r>
              <a:rPr lang="en-US" b="true" sz="3099">
                <a:solidFill>
                  <a:srgbClr val="FFFFFF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Clinical Possible Action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73407" y="3633578"/>
            <a:ext cx="13741185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Flag Mid-Range NT_proBNP Patients for Closer Follow-up: 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Patients with NT_proBNP between ~1400–2600 show higher partial            dependence.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Monitor Elderly Patients Differently Based on Age Bands: Risk peaks at 65–75, then drops after 85.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Don’t Underestimate Mid-Range Heart Rates: Patients with very low or very high heart rates get more attention—but 70–110 bpm still carries a risk.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DAGnKzTc2o4</dc:identifier>
  <dcterms:modified xsi:type="dcterms:W3CDTF">2011-08-01T06:04:30Z</dcterms:modified>
  <cp:revision>1</cp:revision>
  <dc:title>GHW Heart Failure Readmission</dc:title>
</cp:coreProperties>
</file>